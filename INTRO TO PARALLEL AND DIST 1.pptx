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  <p:sldId id="302" r:id="rId47"/>
    <p:sldId id="299" r:id="rId48"/>
    <p:sldId id="3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5AAFE-E23E-475A-8671-CFA546BA219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5FB9C-4E90-4F95-BD93-E51456EAB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6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A973-AC05-45A4-B465-9BDA650E8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75E2F-3BD3-48F3-A6CE-FF4D05FF2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51ABC-4ED1-45DC-B7C0-411ABC9A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F22B1-2EFA-47B7-A3ED-FF0091602452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7C55-908E-402E-9F2B-C026061B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C872-6EC8-452D-9059-DF2E00F9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2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D0C2-78AF-4841-AACC-54BF84A2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D1171-250A-4027-8D4C-3D8996DF7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2C3FA-B82B-4DED-AC83-6190BB09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EE06-A07C-4030-8376-DCFFD56F263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96B0-CA35-4145-9200-1626A85D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24B21-A2C5-4E3A-9E6E-88DAFDC3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0350-27DE-4492-ADBD-DFC2B154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E3804-8292-4922-8CF2-3C4BE9F91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B8E4E-5024-4E90-AEBB-C5E53D11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274F-3802-474F-9C7C-B9BE18409F89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A0CF9-0DD6-4801-8FEC-FAB74AEC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6933-FE02-435A-A10C-10DBBE99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0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0246-9F77-4D05-B4A8-3FAEFACA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A6FD1-08A8-4C86-B45D-DCE69F050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84909-EBF0-465C-B227-04BA18C0B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F2C7-B16B-4B37-B938-1EC6EF30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361B-95CA-42AD-8E68-A7AAEF9030F1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8DBDD-EB7E-47FE-AB89-AA1FF451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DD61C-E72D-4C85-95D0-B575634B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2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F361-4D8D-4FD2-8C60-FB9D829A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28DB8-90EE-4E81-83EE-39A91B248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99D27-4631-4B47-ADEE-F2EFEFBFF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FC12D-4FE1-4E28-BDA2-E418FAE13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C9150-7CFC-4E53-8459-4BCFEEE01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9334B0-5163-4DE6-A92D-703C3389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BD556-A6F8-40E3-86A0-77801CF3A868}" type="datetime1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4BAB3-E87B-4207-ABE1-CD1BEE61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DEAA5-6E94-4F31-9932-74598AF6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5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12E8-0C64-4FA6-98A4-7A32C762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99AFA-F552-47F7-8E93-99BC6186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5B33A-01BF-4F26-87A0-DC15D97F9BCD}" type="datetime1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A5A8C-E2C5-4F05-BF00-30DC8A9A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3F956-BFA0-45F4-BC41-48DB0C1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5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07A94-C465-487C-B6EB-6F85E7A2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2A6D-AE52-453B-8FF7-62ED6F7EB2FB}" type="datetime1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8D0B28-AA5D-45DA-8746-4E137775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E6939-F497-4363-8427-48C156F5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0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2012-DDF8-494E-ABAC-B73A580D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A94E-52BA-45F9-872F-DC1A58B79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0B544-1A65-429B-A34D-48A883B1D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C31A8-EDBD-40CF-A756-224EDA86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441B-DD0D-4C67-A871-60E5DF066AEA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8E41F-DA77-42DB-AEBF-CA821902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6E6FB-CE89-4ABC-9CE7-F3FAEB56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2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0D8FC-161F-4B18-9D15-8B631B3A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AE55C-5B2C-4690-A671-07E33AC1F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2934D-D1FB-441C-8067-C894DE92A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1B48F-DA07-4CD3-8A5C-1F4EBCAF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31CB-249D-4F6C-9DD3-175F4612A287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2238A-AE6B-43B1-9EDA-7BFB0F2F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AA2F6-E8EA-4A13-BDD7-6E75A305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6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E33C-38ED-43D1-824C-C0695811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6D98F-5E78-4B14-B863-098DA779D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1B4F2-8548-4F62-A590-DFAEE507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CDB69-4259-4232-BCDC-71CC6B2F1798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3A66A-709B-4860-9525-0FF54B36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2EE2D-75B5-4EDA-AEC5-9255C884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2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4F597-700A-42D9-9236-6B9FD819C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7865F-25E9-4570-8577-B5DDC3A5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894C-6361-4FC9-9672-796FE510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3E28-DE92-4FBE-9771-8F01247DB7FB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28764-700F-40DC-AB44-D8173321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BA93A-E1ED-4CF9-9D35-1D565AD7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5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A6D75-A0F1-417C-B5F6-4FAA9BC6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8C670-3177-4B92-8372-7B38CE9FF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840C-410F-47FD-8E0D-354C91CC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8BFD9-9C8C-4D02-887A-4C20519D55AC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4CC7-372B-4909-A97C-30F3339F2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1BDD-3B89-45D0-BFDC-DF49B04D0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6E44F-D41D-4E52-B3BD-2102D9274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4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4A6E-28EE-467B-8CD4-38E533878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PARALLEL AND DISTRIBUTED COMPUTING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870B-A525-4595-930C-838CED23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5C7E-3B76-4651-8D7E-267A8D979A8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BBAA1-AEC5-4F00-B404-E3E1485C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0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2F65-2FEC-47EB-BFD1-11E202F5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Parallel and Distributed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C86CC-1E9F-4272-9A65-AAA70892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and Distributed Computing is a field of computer science that focuses on solving problems using multiple computing resources at the same time. Instead of relying on a single computer or processor, tasks are divided and executed across multiple processors or computers.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subject is important because modern applications process large amounts of data and require high-speed computation. Examples include weather forecasting, artificial intelligence, online banking systems, and scientific simulations.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3E34-8E66-488A-A37E-C3721D18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8B20-E800-4CF5-8201-A3B2843613D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C1F61-08C9-4994-ADE5-8E2B9CE0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4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0F21-23CA-4C60-8BEE-3589F78D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Meaning of Parallel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0983A-2635-43B6-99FB-188973012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computing is a computing method where multiple processors work together simultaneously to solve a problem. A large task is divided into smaller tasks that are executed at the same time.</a:t>
            </a:r>
          </a:p>
          <a:p>
            <a:r>
              <a:rPr lang="en-US" dirty="0"/>
              <a:t>The main goal of parallel computing is to improve speed and efficiency. Examples include image processing, machine learning, and scientific research applications.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0496-2213-4107-B7B6-8D5F7D4F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9D17-4212-4FFC-AC11-21A56FB1B31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FC1D9-A014-466B-B863-89EFD0D8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7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B9DC-F5A9-4B39-8F41-2E3CBD33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Meaning of Distributed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33043-CD47-44F8-B5D7-923C836A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computing involves multiple computers connected through a network working together to achieve a common goal. Each computer contributes resources and processing power.</a:t>
            </a:r>
          </a:p>
          <a:p>
            <a:r>
              <a:rPr lang="en-US" dirty="0"/>
              <a:t>Distributed systems improve reliability and scalability. Examples include cloud storage systems and online search engines.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121F-9F0F-4F7A-9B04-FE50A35D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2C1D0-F4FD-4F78-A43A-623AECC21609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6BE0F-A609-4A41-AA56-49A5131B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46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3D78-DB30-4274-9F46-FC58DF81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 of Parallel and Distributed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B0D7-0DC5-46C3-B31A-F94758578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and distributed computing help organizations process large volumes of data quickly. They reduce execution time and improve system performance.</a:t>
            </a:r>
          </a:p>
          <a:p>
            <a:r>
              <a:rPr lang="en-US" dirty="0"/>
              <a:t>These technologies support modern applications such as social media platforms, online banking, and cloud services. They are essential in today's digital world.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D3EAF-43CB-4156-AAB8-39964FBF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84E7-B0B2-423A-AB70-B8807A2641B9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0A75A-F961-4146-9A91-8E6850EF0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7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0D8C-2AFB-4F6B-87BC-1DB5869B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 Performance Computing (HPC)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1F36-C31C-49E2-B6B6-55332051D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Performance Computing refers to the use of powerful computers and clusters to perform complex calculations at very high speeds. HPC systems combine multiple processors and large memory resources.</a:t>
            </a:r>
          </a:p>
          <a:p>
            <a:r>
              <a:rPr lang="en-US" dirty="0"/>
              <a:t>HPC is used in weather prediction, medical research, and engineering simulations. It allows scientists and researchers to solve complex problems efficiently.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80B5-880A-49A1-9F7D-5FCD0BEA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6A36-BA0E-4874-9843-8898B470C07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9AF13-CD16-47A5-BBF5-19457D66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5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A5A1-74E6-4B48-BFB7-39F895A4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 of High Performance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F66B-65F9-4B3E-AF24-6FC55AB3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HPC systems provide high speed, large storage capacity, and powerful processing capabilities. They are designed to handle computationally intensive tasks.</a:t>
            </a:r>
          </a:p>
          <a:p>
            <a:r>
              <a:rPr lang="en-US" dirty="0"/>
              <a:t>These systems are important because they reduce the time required for large-scale computations. They help organizations make faster and more accurate decisions.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C476-17DB-411F-B295-C38D2159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EB95-C16A-4611-B2BD-C1E5DC3DAB34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EB9A3-2FB5-4866-ABBF-FFA161C8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22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BA57-9F4D-49C8-B188-409C71D6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Parallel Programming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E846-2139-4A8B-8E3B-3EB9D0514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programming is the process of writing programs that execute multiple tasks simultaneously. The program is divided into smaller units called threads or processes.</a:t>
            </a:r>
          </a:p>
          <a:p>
            <a:r>
              <a:rPr lang="en-US" dirty="0"/>
              <a:t>This approach improves performance and resource utilization. It is widely used in scientific computing and real-time systems.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602F2-A7C1-4A5A-BBB5-9E22E4FA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F069-5F76-43DD-8E2B-802B56B05AF1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47A6C-4B56-4198-A3F7-B81584E2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30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6AA8-1297-4471-BC28-EBF6D989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 Benefits of Parallel Programming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7BFD-9114-46FF-B62B-4F7FEA09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programming reduces program execution time by allowing tasks to run concurrently. It also improves system efficiency and responsiveness.</a:t>
            </a:r>
          </a:p>
          <a:p>
            <a:r>
              <a:rPr lang="en-US" dirty="0"/>
              <a:t>Organizations use parallel programming to handle large datasets and complex calculations. It supports modern applications that require high performance.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9361D-AD65-4FEF-8693-8B856DBB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0859-4998-4071-9B62-19C92649DE3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D4D2E-63DF-4B2D-BC09-6D200944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30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52CD-0FD5-468E-929A-734D4D7E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 Architecture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104C-79A0-4AA3-A08B-DAE3EDEC8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architecture refers to the design of computer systems that support parallel execution. These systems contain multiple processors or cores.</a:t>
            </a:r>
          </a:p>
          <a:p>
            <a:r>
              <a:rPr lang="en-US" dirty="0"/>
              <a:t>The architecture allows tasks to be processed simultaneously. Examples include multicore processors and supercomputers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2BA4-52A8-4860-A156-864150D2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241D4-165F-4290-A932-6EDE8C43AAC1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07D02-0F8A-46E8-A04B-B36193E4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8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D886-D8E2-45ED-BA25-098FA141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0" u="none" strike="noStrike" dirty="0">
                <a:effectLst/>
                <a:latin typeface="Google Sans"/>
              </a:rPr>
              <a:t>A </a:t>
            </a:r>
            <a:r>
              <a:rPr lang="en-US" sz="2800" b="1" u="none" strike="noStrike" dirty="0">
                <a:effectLst/>
                <a:latin typeface="Google Sans"/>
              </a:rPr>
              <a:t>Parallel Computing Architecture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25B5D-F739-46E1-A3B5-E7CD7C33F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none" strike="noStrike" dirty="0">
                <a:effectLst/>
                <a:latin typeface="Google Sans"/>
              </a:rPr>
              <a:t>A </a:t>
            </a:r>
            <a:r>
              <a:rPr lang="en-US" b="1" u="none" strike="noStrike" dirty="0">
                <a:effectLst/>
                <a:latin typeface="Google Sans"/>
              </a:rPr>
              <a:t>Parallel Computing Architecture</a:t>
            </a:r>
            <a:r>
              <a:rPr lang="en-US" dirty="0"/>
              <a:t> (often modeled as a Symmetric Multiprocessor or SIMD system) features multiple processors working collaboratively on a single task. The processors share a centralized memory bank and communicate over a high-speed internal bus network to divide large computations and execute them concurrently.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C5200-B9A1-4858-B579-46D83F06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C690-7AA9-4FF5-BC54-19818240915E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0EA13-43CC-4369-83E4-4D8D3130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7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9503-D333-42F2-A5E2-2958CC32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Symmetric Multiprocessor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F30264-E366-4C64-91CF-ECD741780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268" y="1825625"/>
            <a:ext cx="8561196" cy="4351338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3F8EF4-A83A-4BF8-AAF3-89ED3412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1BBBE-AC8E-4ADB-A5CB-B02F1A944F4A}" type="datetime1">
              <a:rPr lang="en-US" smtClean="0"/>
              <a:t>6/4/2026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B7E7A-49FF-4CB3-9EFE-38792F75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1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9F53-283C-4449-9ED3-B0CC2A21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Symmetric 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81E3-E8D3-4287-91A1-5F7FD4F02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none" strike="noStrike" dirty="0">
                <a:effectLst/>
                <a:latin typeface="Google Sans"/>
              </a:rPr>
              <a:t>bus arbiter</a:t>
            </a:r>
            <a:r>
              <a:rPr lang="en-US" dirty="0"/>
              <a:t> is a specialized controller or logic unit that manages access to a shared communication pathway (a "bus") in a computer system or electronic device</a:t>
            </a:r>
          </a:p>
          <a:p>
            <a:r>
              <a:rPr lang="en-US" dirty="0"/>
              <a:t>A </a:t>
            </a:r>
            <a:r>
              <a:rPr lang="en-US" b="1" u="none" strike="noStrike" dirty="0">
                <a:effectLst/>
                <a:latin typeface="Google Sans"/>
              </a:rPr>
              <a:t>cache</a:t>
            </a:r>
            <a:r>
              <a:rPr lang="en-US" dirty="0"/>
              <a:t> (pronounced "cash") is a high-speed, temporary data storage area. Its primary purpose is to store frequently accessed data so that future requests for that data can be loaded significantly faster, saving time and system resources.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DA47-6AEA-437C-B799-746E3232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64F19-4CE1-44C4-8457-1C9D21DF4ED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A10FE-7F9D-4D3E-8C5E-AE62BE07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9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5F00-3D2A-4F57-AEE2-DCAA1BF6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Parallel Architecture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DE03-1B33-42FC-A9C6-E6571054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types include shared memory systems and distributed memory systems. Shared memory systems allow processors to access the same memory.</a:t>
            </a:r>
          </a:p>
          <a:p>
            <a:r>
              <a:rPr lang="en-US" dirty="0"/>
              <a:t>Distributed memory systems use separate memory units connected by a network. Both architectures are widely used in modern computing.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00BC3-2BD3-4279-A944-ABEB7AAA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8247-5901-4BD3-90F0-2B1B92FA88E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CF8D6-2D22-48C2-9B11-2C78CA44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59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489D-031B-4107-83B4-B3EBCA4A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Cloud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910E-57DD-4C83-A6B9-A46FDA40D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provides computing resources over the internet. Users can access servers, storage, and applications without owning physical hardware.</a:t>
            </a:r>
          </a:p>
          <a:p>
            <a:r>
              <a:rPr lang="en-US" dirty="0"/>
              <a:t>Cloud services offer flexibility, scalability, and cost savings. Examples include online storage and web hosting services.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77FFD7-3FE0-4142-9369-EB2B5B8B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F79A-B6B4-4EF6-BCAC-5B7EA202632E}" type="datetime1">
              <a:rPr lang="en-US" smtClean="0"/>
              <a:t>6/4/2026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62954-B4D8-4CD7-ABB9-7165153E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9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46F0-186C-4A1D-80A0-BD406DF9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Cloud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0C3CC-DDED-4D1B-96F8-B69127E3F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reduces hardware costs and improves accessibility. Users can access services from anywhere with an internet connection.</a:t>
            </a:r>
          </a:p>
          <a:p>
            <a:r>
              <a:rPr lang="en-US" dirty="0"/>
              <a:t>Organizations use cloud computing to improve collaboration and business continuity. It supports large-scale distributed applications.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4A7F-17B6-4CB3-B998-150E66FF6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3D516-C0DF-456D-8193-2664FE5F183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AC12A-9DDF-4F32-8FA5-D30ADA03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52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24F3-312E-4E4D-8BBA-B12D77E3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Distributed Systems</a:t>
            </a:r>
            <a:b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0B5A-19E8-47CE-8213-FE7500321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system consists of multiple computers working together as a single system. These computers communicate through a network.</a:t>
            </a:r>
          </a:p>
          <a:p>
            <a:r>
              <a:rPr lang="en-US" dirty="0"/>
              <a:t>Distributed systems improve performance, reliability, and scalability. Examples include online banking and e-commerce platforms.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454F7-9AF4-4C24-BCB7-B502DE8B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530D-65B8-4B67-B97E-FE347BAB628A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6A71F-4E77-4CE6-951A-D3BB5511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FA18-F0E6-4D83-B889-A3E7CE50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Components of Distributed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03425-866B-494D-B902-15C3AA29E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components include </a:t>
            </a:r>
            <a:r>
              <a:rPr lang="en-US" b="1" i="1" dirty="0">
                <a:solidFill>
                  <a:srgbClr val="FF0000"/>
                </a:solidFill>
              </a:rPr>
              <a:t>nodes, networks, communication protocols, and software services. </a:t>
            </a:r>
            <a:r>
              <a:rPr lang="en-US" dirty="0"/>
              <a:t>Each component plays a specific role in system operation.</a:t>
            </a:r>
          </a:p>
          <a:p>
            <a:r>
              <a:rPr lang="en-US" dirty="0"/>
              <a:t>Understanding these components helps students design and manage distributed environments effectively.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1A90-1A1B-4841-AF89-9066A2F6E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E8AD-7A8E-4CEF-A167-72E57B85E7B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E827F-DCBE-424C-A265-C93258F4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4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AFFA-AFB3-4D99-AA84-07ADDE94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Distributed Operating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25ADC-B094-47BB-9906-633AF95B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operating system manages multiple networked computers and makes them appear as one system. It coordinates resources and communication.</a:t>
            </a:r>
          </a:p>
          <a:p>
            <a:r>
              <a:rPr lang="en-US" dirty="0"/>
              <a:t>Examples include Amoeba and Plan 9. These systems improve resource sharing and system efficiency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29F6D-535A-46CE-B29F-8A95933F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1176-542D-4A76-9A44-B087006F0723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3F129-DA1D-4DD2-8EA1-CA577B42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06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0941-6183-45E1-8C75-223844D3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Functions of Distributed Operating Systems</a:t>
            </a:r>
            <a:b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FDC83-25C0-4B7E-9172-D74516342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systems manage </a:t>
            </a:r>
            <a:r>
              <a:rPr lang="en-US" dirty="0">
                <a:solidFill>
                  <a:srgbClr val="FF0000"/>
                </a:solidFill>
              </a:rPr>
              <a:t>files, processes, memory</a:t>
            </a:r>
            <a:r>
              <a:rPr lang="en-US" dirty="0"/>
              <a:t>, and communication across networked computers. They ensure efficient resource utilization.</a:t>
            </a:r>
          </a:p>
          <a:p>
            <a:r>
              <a:rPr lang="en-US" dirty="0"/>
              <a:t>Their primary goal is to provide transparency and simplify system management for users.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F8F9-E3BD-4C55-9F11-12B45C97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B88A-511E-4D45-8259-A590523C6CE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C6B08-E518-4D5F-B816-D54B681D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51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B639-D053-40FD-B180-0A6E34C2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 Protocols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3E7E-80C8-4D78-B3A5-2B340691F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protocols are rules that govern communication between computers. They ensure reliable data exchange across networks.</a:t>
            </a:r>
          </a:p>
          <a:p>
            <a:r>
              <a:rPr lang="en-US" dirty="0"/>
              <a:t>Examples include TCP/IP, HTTP, and FTP. These protocols form the foundation of distributed computing.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1242E-A0E7-4509-B683-E5128744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8DB46-F6ED-4B05-9E09-0B07291B7E7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DEC5B-2856-401C-A4E3-4A3E24EE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61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F06A-1E5E-4DFF-BFF6-EA54B28D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 of Network Protocols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20460-09E9-4DB3-923C-5D6414E08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Protocols ensure data is transmitted correctly and efficiently. They support communication between devices and applications.</a:t>
            </a:r>
          </a:p>
          <a:p>
            <a:r>
              <a:rPr lang="en-US" dirty="0"/>
              <a:t>Without protocols, distributed systems would not function properly. They are essential for network reliability.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A1D67-4FFE-4EE2-BF08-FB1CB635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3B96-34B0-4B15-A111-7202502DBDB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9C0B5-E655-4FA2-810F-644D62D7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6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751C-9083-4816-A0D0-3F5FB56A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 Communication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C9F4-F611-4C21-B4C9-8BC9CF915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communication allows processes to exchange information and coordinate activities. It is a key concept in distributed computing.</a:t>
            </a:r>
          </a:p>
          <a:p>
            <a:r>
              <a:rPr lang="en-US" dirty="0"/>
              <a:t>Examples include message passing and shared memory communication. Effective communication improves system performance.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B9FD-6700-4B87-92B3-330B58A9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4D06-487F-4F54-A5AE-E6C763ECF58B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85FA2-075B-4E0E-86F7-15F0E912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77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2DC0-F900-4150-A275-92D53A49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Kernels in Distributed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5B310-2586-41AD-BC55-8FA68C5E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kernel is the core component of an operating system. It manages hardware resources and system operations.</a:t>
            </a:r>
          </a:p>
          <a:p>
            <a:r>
              <a:rPr lang="en-US" dirty="0"/>
              <a:t>In distributed systems, kernels coordinate communication and resource allocation among multiple computers.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A7D29-EC1A-4CAC-9114-FFAF8D9E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47BA-536B-4921-986B-1A3A36755DAE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63C79-DF5B-4172-AFD4-4A683E9E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97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ACDD-0313-4EAC-B984-A04C8AAA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Synchronization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E680F-8A4E-46A4-87FB-0FBF1F697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Synchronization ensures that multiple processes access shared resources in an orderly manner. It prevents conflicts and inconsistencies.</a:t>
            </a:r>
          </a:p>
          <a:p>
            <a:r>
              <a:rPr lang="en-US" dirty="0"/>
              <a:t>Examples include semaphores and mutexes. Synchronization is important for maintaining data integrity.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3686-FA07-4202-8C6A-6EB8F46A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10E9-BEFC-40DD-A1E8-481E52815F5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D9917-62CE-468D-B671-E1F20E4A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2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D40C-3D7F-419F-BCDD-5F83E8BF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 for Synchronization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8269-7BC8-4AA3-B0AC-AA258EB0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synchronization, processes may interfere with each other. This can lead to incorrect results and system failures.</a:t>
            </a:r>
          </a:p>
          <a:p>
            <a:r>
              <a:rPr lang="en-US" dirty="0"/>
              <a:t>Proper synchronization improves reliability and efficiency in parallel and distributed systems.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FB635-2E71-44AD-B8ED-D7507EEC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2F6D-BD20-4B28-9300-7E1D7553E35A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0B32E-CA19-46A2-9681-FA255B84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99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30A3-9E32-4F57-A921-667B6373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b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124B-6255-4D69-BAC9-D4207F49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Scheduling determines the order in which processes execute. It helps maximize processor utilization and system performance.</a:t>
            </a:r>
          </a:p>
          <a:p>
            <a:r>
              <a:rPr lang="en-US" dirty="0"/>
              <a:t>Examples include First Come First Serve (FCFS) and Round Robin scheduling algorithms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E7E9-368D-4B5D-95A9-789142BA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A702B-E7C6-47A3-9EAE-9097D4A8DC4A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07AE6-C9C2-4835-8348-11F3AA09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09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2937-9DC7-47E6-8005-802ABE5F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Scheduling Algorithms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326B-C576-4879-8AD1-5C178D5F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algorithms are used depending on system requirements. Some focus on fairness while others focus on speed.</a:t>
            </a:r>
          </a:p>
          <a:p>
            <a:r>
              <a:rPr lang="en-US" dirty="0"/>
              <a:t>Understanding scheduling helps students optimize system performance and resource allocation.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26BAC-8CB7-4D00-9768-1B067DDA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4CFB-0431-4AA7-ACC6-51801B3E5964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3DF89-8A6A-4523-8577-D051AD81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15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B24B-F230-4824-880A-BC87BC9D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Exceptions in Distributed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0B0D-4D62-42AA-B28B-C9DB5EA5E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Exceptions are unexpected events that occur during program execution. Examples include network failures and hardware faults.</a:t>
            </a:r>
          </a:p>
          <a:p>
            <a:r>
              <a:rPr lang="en-US" dirty="0"/>
              <a:t>Exception handling ensures that systems continue operating even when problems occur.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829-4E3A-4F40-9BE5-0D90539C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1DB0A-9067-43D7-B2FC-9C11B466CA81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D0BF7-A607-4DF6-AB3C-6051B11E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5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9919-2FCD-4C21-8B7F-61503067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Deadlocks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BDD0-5C00-46A7-8D11-1BE7DCA0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deadlock occurs when processes wait indefinitely for resources held by one another. This prevents progress in the system.</a:t>
            </a:r>
          </a:p>
          <a:p>
            <a:r>
              <a:rPr lang="en-US" dirty="0"/>
              <a:t>Deadlocks reduce system efficiency and must be prevented or resolved.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E5065-D903-4764-9D31-F3E7EB3F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1D116-F8F0-40FD-B30F-6110575CD232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78E45-7E9D-4ACF-8C22-35FFC5DD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74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26B2-0D48-4775-9B20-BC65B990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Deadlock Prevention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727D-2D94-47D8-A7A1-DEEB16503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prevention uses strategies that avoid conditions leading to deadlocks. Resource allocation policies are commonly used.</a:t>
            </a:r>
          </a:p>
          <a:p>
            <a:r>
              <a:rPr lang="en-US" dirty="0"/>
              <a:t>Preventing deadlocks improves system stability and performance.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F8F7D-A756-4242-A72A-E7130A03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D727-6C5C-4CB7-A084-5FD07806904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83E38-EBA2-4AFE-BD8F-FF4F448D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3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F701-FF18-438B-ABAF-42D29F5E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Deadlock Resolution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7419-E8ED-4F4D-ADD0-F93B7F5CA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resolution identifies and removes deadlocks when they occur. Techniques include process termination and resource recovery.</a:t>
            </a:r>
          </a:p>
          <a:p>
            <a:r>
              <a:rPr lang="en-US" dirty="0"/>
              <a:t>These methods ensure system operations continue normally.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5E4DF-EA0E-45D4-84CB-CF095945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5461-744A-4749-9BD1-C13D6202A752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0D6FB-68CB-4098-B658-8DDBA4DE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12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E594-DB7F-44D5-8974-7AD3180F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Client-Server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C917-3A2A-4E80-B0EC-45A0432DD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client-server system consists of clients requesting services from servers. The server processes requests and returns responses.</a:t>
            </a:r>
          </a:p>
          <a:p>
            <a:r>
              <a:rPr lang="en-US" dirty="0"/>
              <a:t>Examples include web applications and online banking systems.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8018-AF84-4B23-BCD5-171838B0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41E4-CBC2-40E8-A508-6ACE3B6D6CF8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0309A-08B0-43EE-97A9-8BC97F80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0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2A2F-10A8-40B3-9F3E-C978AF5B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 of Client-Server Systems</a:t>
            </a:r>
            <a:b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0DFE6-E6C5-4E99-8C5C-870081F45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 systems centralize resources and improve management. They provide better security and scalability.</a:t>
            </a:r>
          </a:p>
          <a:p>
            <a:r>
              <a:rPr lang="en-US" dirty="0"/>
              <a:t>Many modern applications use this architecture because of its efficiency.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3E0A9-E274-4CC4-9858-5D8F12E3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B0C94-7AAD-4F51-AF4E-83C5595B98F1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64360-689C-40E1-8C03-089BCE30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68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EB7D-D2FC-4F29-B6FA-1181B54B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Web-Based Collaborative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35839-E9C3-40B9-AA3D-5E2AFDB2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collaborative systems allow users to work together through the internet. Examples include Google Docs and Microsoft Teams.</a:t>
            </a:r>
          </a:p>
          <a:p>
            <a:r>
              <a:rPr lang="en-US" dirty="0"/>
              <a:t>These systems improve communication and teamwork across different locations.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C38B5-F515-4D32-B8C1-EECE26AD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AA3-E16A-407A-8951-520E0C53C9D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E4232-EB0C-4198-BF81-A884BE43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0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BCE-3FD8-4A4F-AFC9-343C0750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 of Collaborative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C6695-4CE6-46EB-A4E4-E64E14AF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Collaborative systems support document sharing, communication, and real-time updates. They improve productivity and coordination.</a:t>
            </a:r>
          </a:p>
          <a:p>
            <a:r>
              <a:rPr lang="en-US" dirty="0"/>
              <a:t>Organizations use them for remote work and project management.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86FD-8704-4283-80C5-A0FB5308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ABC3-4F02-48A6-B38E-89D84393135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21013-9E3A-4DBD-8CF0-69F9F6DA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29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5FEB-2154-4318-A9CA-BFBC273D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Concurrency in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51F1-2553-477C-A30B-A194EC588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occurs when multiple processes execute during overlapping time periods. It improves resource utilization.</a:t>
            </a:r>
          </a:p>
          <a:p>
            <a:r>
              <a:rPr lang="en-US" dirty="0"/>
              <a:t>Concurrency is common in operating systems, databases, and distributed applications.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7E7AD-CBA3-4AB1-8E7A-E1180C29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7E497-DA59-4DA5-AE78-2E1D1E638AB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998ED-4951-438C-A756-98862FC2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79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A4AE-9EA7-4A93-8798-371164CF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Concurrency Issues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E573E-7A58-414E-8B15-31A152940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issues include race conditions, deadlocks, and resource conflicts. These problems can affect system correctness.</a:t>
            </a:r>
          </a:p>
          <a:p>
            <a:r>
              <a:rPr lang="en-US" dirty="0"/>
              <a:t>Understanding concurrency issues helps developers design reliable systems.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2A643-0AF4-4A22-911D-DFA8265A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C975-09F6-4AD5-B436-D7E0E820546F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B5E6-3E2A-4C5B-9124-C805F36F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64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E886-AD72-4768-8D4D-08EED0CB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APIs for Distributed Application Development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64EB-4AFC-4C4B-AB67-C4788A383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Programming Interfaces (APIs) provide tools for building distributed applications. APIs simplify communication between software components.</a:t>
            </a:r>
          </a:p>
          <a:p>
            <a:r>
              <a:rPr lang="en-US" dirty="0"/>
              <a:t>Examples include REST APIs and Java APIs. They improve software development efficiency.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916B1-FAE4-46F0-9DF9-B79E951F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E59BE-1CE7-4EEF-94BD-35777AC87C3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C9635-B190-48F6-A86B-DB5F398D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25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5F4-066A-4637-A127-A077A680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 RMI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C6199-EE39-49FD-B5CE-1497C97E2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Remote Method Invocation (RMI) allows Java programs to communicate across networks. It enables remote object interaction.</a:t>
            </a:r>
          </a:p>
          <a:p>
            <a:r>
              <a:rPr lang="en-US" dirty="0"/>
              <a:t>Java RMI is widely used for distributed application development and experimentation.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846C5-1B1C-427A-BACF-C06EC039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89F4-1D51-40DF-B8B0-03A6EC6DFED9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BAEDE-CAAD-440A-9FDC-36FC6C9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53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8F11-69A5-404F-A404-37A1587A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Cluster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E0D6C-0DC4-46E8-8FDB-6F0679E8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cluster is a group of connected computers working together as a single system. Clusters improve performance and reliability.</a:t>
            </a:r>
          </a:p>
          <a:p>
            <a:r>
              <a:rPr lang="en-US" dirty="0"/>
              <a:t>Organizations use clusters for scientific research and large-scale computations.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8856E-94E4-45ED-8778-E67059AA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9F2A-F705-4391-996E-5475E38B4D03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E6728-D741-4AED-AF15-097C8C9A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35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8C98-4715-49D1-A3A1-64C0CF44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Experimental Projects in Distributed Computing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BD85-1DC8-4B91-AC04-07DE303B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use distributed environments to develop and test applications. Experimental projects provide practical experience.</a:t>
            </a:r>
          </a:p>
          <a:p>
            <a:r>
              <a:rPr lang="en-US" dirty="0"/>
              <a:t>These projects improve problem-solving and programming skills.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4A117-EAED-438D-B320-96B95B4A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88FD-A1E6-46E4-B6A5-CA6E6DF3ECBE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2B0EF-AE91-4C85-B9DD-DA97A8B9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07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4A5D-0BCF-4D47-A891-8717A263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Real-World Applications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4C9FD-9800-4EA6-8ABD-E76BE6EA2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and distributed computing support artificial intelligence, cloud services, healthcare systems, and financial systems.</a:t>
            </a:r>
          </a:p>
          <a:p>
            <a:r>
              <a:rPr lang="en-US" dirty="0"/>
              <a:t>These technologies enable organizations to process large datasets and deliver services efficiently.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698D-7A0F-4BAB-8593-613A2954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3C35-29BD-41AB-B52A-493DAD8D96D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E4D85-045D-4A1B-86D0-1BBB659F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92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CFC0-97C3-4ACE-96F1-F640778B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 and Future Trends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419C-D87E-469F-8A63-2CCD8A116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and distributed computing continue to evolve with cloud computing, edge computing, and artificial intelligence. These technologies are shaping the future of computing.</a:t>
            </a:r>
          </a:p>
          <a:p>
            <a:r>
              <a:rPr lang="en-US" dirty="0"/>
              <a:t>Students who understand these concepts can contribute to innovative solutions in science, business, and technology.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CB73-D579-4C97-98BD-A6939CF5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EE06-A07C-4030-8376-DCFFD56F263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85691-B44B-4E31-AE31-46B79050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92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D892-468A-4D75-9B3C-E829FA40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B6307-D76E-4209-8C8B-CEF4BFE468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What is the main goal of parallel computing?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Increase processing speed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Reduce storage devices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Remove networks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Create databases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Distributed computing involves: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One computer only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Multiple computers working together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One processor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One network cable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High Performance Computing is mainly used for: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Complex calculations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Playing games only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Typing documents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Printing files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412C2-DDFE-4399-A283-C03732D4E3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Which of the following is an example of a network protocol?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TCP/IP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Microsoft Word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Excel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PowerPoint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Synchronization is used to: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Coordinate shared resources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Delete files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Install software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Create hardware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A deadlock occurs when: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Processes wait indefinitely for resources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Data is saved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Programs start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Computers shut down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3B4CF-9220-43FA-AA9B-789B93BF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361B-95CA-42AD-8E68-A7AAEF9030F1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4AD4-2D4F-4539-916F-F88AFCF5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46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F767-451C-4270-A37B-2192E0E0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8A873-49BF-4363-94FE-7938819ED2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Cloud computing provides resources through: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The Internet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Printers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Scanners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USB drives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Java RMI stands for: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Java Remote Method Invocation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Java Resource Management Interface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Java Random Memory Integration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Java Runtime Module Interface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51968-A1C0-43B6-9139-EFFCB7BFE0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Which architecture consists of clients requesting services from servers?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Client-Server Architecture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Peer-to-Peer Only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Standalone System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Single User System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Which issue is common in concurrent systems?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Race Condition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File Printing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Data Typing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Screen Resolution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B755D-B1C5-4A2D-8D6E-9C0EA2DD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361B-95CA-42AD-8E68-A7AAEF9030F1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9599B-2893-4E61-94B2-6C9CF446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37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7EBE-D75A-434A-8D59-5D0CDCC5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38EF-BA9E-4390-B739-50E163DE1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32A0A-A0D5-411E-8B42-0F7C7A12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EE06-A07C-4030-8376-DCFFD56F263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A747E-EE16-48CE-B73C-A1C08145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939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4D89-798D-476D-BE90-9CAF5DC3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97059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DD2E6-1C94-4307-9F34-038F5514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EE06-A07C-4030-8376-DCFFD56F263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F416F-2D39-44AA-9322-8096078D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6E44F-D41D-4E52-B3BD-2102D927482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1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2176</Words>
  <Application>Microsoft Office PowerPoint</Application>
  <PresentationFormat>Widescreen</PresentationFormat>
  <Paragraphs>247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Google Sans</vt:lpstr>
      <vt:lpstr>Times New Roman</vt:lpstr>
      <vt:lpstr>Office Theme</vt:lpstr>
      <vt:lpstr>INTRODUCTION TO PARALLEL AND DISTRIBUTED COMPUTING</vt:lpstr>
      <vt:lpstr>Introduction to Parallel and Distributed Computing</vt:lpstr>
      <vt:lpstr>Meaning of Parallel Computing</vt:lpstr>
      <vt:lpstr>Meaning of Distributed Computing</vt:lpstr>
      <vt:lpstr>Importance of Parallel and Distributed Computing</vt:lpstr>
      <vt:lpstr>High Performance Computing (HPC)</vt:lpstr>
      <vt:lpstr>Characteristics of High Performance Computing</vt:lpstr>
      <vt:lpstr>Introduction to Parallel Programming</vt:lpstr>
      <vt:lpstr>Some Benefits of Parallel Programming</vt:lpstr>
      <vt:lpstr>Parallel Architecture</vt:lpstr>
      <vt:lpstr>A Parallel Computing Architecture</vt:lpstr>
      <vt:lpstr>Symmetric Multiprocessor System</vt:lpstr>
      <vt:lpstr>Symmetric Multiprocessor System</vt:lpstr>
      <vt:lpstr>Types of Parallel Architecture</vt:lpstr>
      <vt:lpstr>Cloud Computing</vt:lpstr>
      <vt:lpstr>Advantages of Cloud Computing</vt:lpstr>
      <vt:lpstr>Distributed Systems </vt:lpstr>
      <vt:lpstr>Components of Distributed Systems</vt:lpstr>
      <vt:lpstr>Distributed Operating Systems</vt:lpstr>
      <vt:lpstr>Functions of Distributed Operating Systems </vt:lpstr>
      <vt:lpstr>Network Protocols</vt:lpstr>
      <vt:lpstr>Importance of Network Protocols</vt:lpstr>
      <vt:lpstr>Process Communication</vt:lpstr>
      <vt:lpstr>Kernels in Distributed Systems</vt:lpstr>
      <vt:lpstr>Synchronization</vt:lpstr>
      <vt:lpstr>Need for Synchronization</vt:lpstr>
      <vt:lpstr>Scheduling </vt:lpstr>
      <vt:lpstr>Scheduling Algorithms</vt:lpstr>
      <vt:lpstr>Exceptions in Distributed Systems</vt:lpstr>
      <vt:lpstr>Deadlocks</vt:lpstr>
      <vt:lpstr>Deadlock Prevention</vt:lpstr>
      <vt:lpstr>Deadlock Resolution</vt:lpstr>
      <vt:lpstr>Client-Server Systems</vt:lpstr>
      <vt:lpstr>Advantages of Client-Server Systems </vt:lpstr>
      <vt:lpstr>Web-Based Collaborative Systems</vt:lpstr>
      <vt:lpstr>Features of Collaborative Systems</vt:lpstr>
      <vt:lpstr>Concurrency in Computing</vt:lpstr>
      <vt:lpstr>Concurrency Issues</vt:lpstr>
      <vt:lpstr>APIs for Distributed Application Development</vt:lpstr>
      <vt:lpstr>Java RMI</vt:lpstr>
      <vt:lpstr>Cluster Computing</vt:lpstr>
      <vt:lpstr>Experimental Projects in Distributed Computing</vt:lpstr>
      <vt:lpstr>Real-World Applications</vt:lpstr>
      <vt:lpstr>Summary and Future Trends</vt:lpstr>
      <vt:lpstr>QUICK QUIZ 1</vt:lpstr>
      <vt:lpstr>QUICK QUIZ 1</vt:lpstr>
      <vt:lpstr>Possible Solutions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15</cp:revision>
  <dcterms:created xsi:type="dcterms:W3CDTF">2026-06-04T08:31:55Z</dcterms:created>
  <dcterms:modified xsi:type="dcterms:W3CDTF">2026-06-04T17:04:51Z</dcterms:modified>
</cp:coreProperties>
</file>