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75"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1" d="100"/>
          <a:sy n="71" d="100"/>
        </p:scale>
        <p:origin x="113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554C2-0097-4F68-9420-17BCBBA686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A777D39-E1EC-4CC6-B9ED-FDB4752C91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B3AC6B-08D3-42D5-83B9-8E60A23C021A}"/>
              </a:ext>
            </a:extLst>
          </p:cNvPr>
          <p:cNvSpPr>
            <a:spLocks noGrp="1"/>
          </p:cNvSpPr>
          <p:nvPr>
            <p:ph type="dt" sz="half" idx="10"/>
          </p:nvPr>
        </p:nvSpPr>
        <p:spPr/>
        <p:txBody>
          <a:bodyPr/>
          <a:lstStyle/>
          <a:p>
            <a:fld id="{09FFC76B-D089-4ADE-B51B-C061A75999F5}" type="datetimeFigureOut">
              <a:rPr lang="en-US" smtClean="0"/>
              <a:t>7/23/2026</a:t>
            </a:fld>
            <a:endParaRPr lang="en-US"/>
          </a:p>
        </p:txBody>
      </p:sp>
      <p:sp>
        <p:nvSpPr>
          <p:cNvPr id="5" name="Footer Placeholder 4">
            <a:extLst>
              <a:ext uri="{FF2B5EF4-FFF2-40B4-BE49-F238E27FC236}">
                <a16:creationId xmlns:a16="http://schemas.microsoft.com/office/drawing/2014/main" id="{0E67DAFF-25F4-47F0-B033-B5BFDA5B47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D38370-EDFA-438F-9FD5-BC0F4A7013C5}"/>
              </a:ext>
            </a:extLst>
          </p:cNvPr>
          <p:cNvSpPr>
            <a:spLocks noGrp="1"/>
          </p:cNvSpPr>
          <p:nvPr>
            <p:ph type="sldNum" sz="quarter" idx="12"/>
          </p:nvPr>
        </p:nvSpPr>
        <p:spPr/>
        <p:txBody>
          <a:bodyPr/>
          <a:lstStyle/>
          <a:p>
            <a:fld id="{E124EB2A-DE86-40FE-B807-CA51ED4EC35D}" type="slidenum">
              <a:rPr lang="en-US" smtClean="0"/>
              <a:t>‹#›</a:t>
            </a:fld>
            <a:endParaRPr lang="en-US"/>
          </a:p>
        </p:txBody>
      </p:sp>
    </p:spTree>
    <p:extLst>
      <p:ext uri="{BB962C8B-B14F-4D97-AF65-F5344CB8AC3E}">
        <p14:creationId xmlns:p14="http://schemas.microsoft.com/office/powerpoint/2010/main" val="2190163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FC8E4-C332-4F18-A854-8E69FDB55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F6A301-73C6-4EFC-8EC7-F0AB6033BC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85DD06-05D2-41CB-B37E-63B94C5F015F}"/>
              </a:ext>
            </a:extLst>
          </p:cNvPr>
          <p:cNvSpPr>
            <a:spLocks noGrp="1"/>
          </p:cNvSpPr>
          <p:nvPr>
            <p:ph type="dt" sz="half" idx="10"/>
          </p:nvPr>
        </p:nvSpPr>
        <p:spPr/>
        <p:txBody>
          <a:bodyPr/>
          <a:lstStyle/>
          <a:p>
            <a:fld id="{09FFC76B-D089-4ADE-B51B-C061A75999F5}" type="datetimeFigureOut">
              <a:rPr lang="en-US" smtClean="0"/>
              <a:t>7/23/2026</a:t>
            </a:fld>
            <a:endParaRPr lang="en-US"/>
          </a:p>
        </p:txBody>
      </p:sp>
      <p:sp>
        <p:nvSpPr>
          <p:cNvPr id="5" name="Footer Placeholder 4">
            <a:extLst>
              <a:ext uri="{FF2B5EF4-FFF2-40B4-BE49-F238E27FC236}">
                <a16:creationId xmlns:a16="http://schemas.microsoft.com/office/drawing/2014/main" id="{99638A10-68E6-461A-9766-D5FAF45B7A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A5C1A1-4CC7-438A-8A4C-CDA7811E0770}"/>
              </a:ext>
            </a:extLst>
          </p:cNvPr>
          <p:cNvSpPr>
            <a:spLocks noGrp="1"/>
          </p:cNvSpPr>
          <p:nvPr>
            <p:ph type="sldNum" sz="quarter" idx="12"/>
          </p:nvPr>
        </p:nvSpPr>
        <p:spPr/>
        <p:txBody>
          <a:bodyPr/>
          <a:lstStyle/>
          <a:p>
            <a:fld id="{E124EB2A-DE86-40FE-B807-CA51ED4EC35D}" type="slidenum">
              <a:rPr lang="en-US" smtClean="0"/>
              <a:t>‹#›</a:t>
            </a:fld>
            <a:endParaRPr lang="en-US"/>
          </a:p>
        </p:txBody>
      </p:sp>
    </p:spTree>
    <p:extLst>
      <p:ext uri="{BB962C8B-B14F-4D97-AF65-F5344CB8AC3E}">
        <p14:creationId xmlns:p14="http://schemas.microsoft.com/office/powerpoint/2010/main" val="3942910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AC331-8FA0-4E4A-8152-342403877B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6D2E091-1E15-4AD6-A89B-855C59837B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E383FC-D3F5-41AC-B7B4-90D8F6AAC4A6}"/>
              </a:ext>
            </a:extLst>
          </p:cNvPr>
          <p:cNvSpPr>
            <a:spLocks noGrp="1"/>
          </p:cNvSpPr>
          <p:nvPr>
            <p:ph type="dt" sz="half" idx="10"/>
          </p:nvPr>
        </p:nvSpPr>
        <p:spPr/>
        <p:txBody>
          <a:bodyPr/>
          <a:lstStyle/>
          <a:p>
            <a:fld id="{09FFC76B-D089-4ADE-B51B-C061A75999F5}" type="datetimeFigureOut">
              <a:rPr lang="en-US" smtClean="0"/>
              <a:t>7/23/2026</a:t>
            </a:fld>
            <a:endParaRPr lang="en-US"/>
          </a:p>
        </p:txBody>
      </p:sp>
      <p:sp>
        <p:nvSpPr>
          <p:cNvPr id="5" name="Footer Placeholder 4">
            <a:extLst>
              <a:ext uri="{FF2B5EF4-FFF2-40B4-BE49-F238E27FC236}">
                <a16:creationId xmlns:a16="http://schemas.microsoft.com/office/drawing/2014/main" id="{5E014C34-D34F-4AD2-AC1C-42335FAEAE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C40BA7-700F-41B1-833F-4FC3CDCF2445}"/>
              </a:ext>
            </a:extLst>
          </p:cNvPr>
          <p:cNvSpPr>
            <a:spLocks noGrp="1"/>
          </p:cNvSpPr>
          <p:nvPr>
            <p:ph type="sldNum" sz="quarter" idx="12"/>
          </p:nvPr>
        </p:nvSpPr>
        <p:spPr/>
        <p:txBody>
          <a:bodyPr/>
          <a:lstStyle/>
          <a:p>
            <a:fld id="{E124EB2A-DE86-40FE-B807-CA51ED4EC35D}" type="slidenum">
              <a:rPr lang="en-US" smtClean="0"/>
              <a:t>‹#›</a:t>
            </a:fld>
            <a:endParaRPr lang="en-US"/>
          </a:p>
        </p:txBody>
      </p:sp>
    </p:spTree>
    <p:extLst>
      <p:ext uri="{BB962C8B-B14F-4D97-AF65-F5344CB8AC3E}">
        <p14:creationId xmlns:p14="http://schemas.microsoft.com/office/powerpoint/2010/main" val="3758654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1FD02-4FDE-4CC2-9EEB-410985D12A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10AC83-782E-4E46-8729-82DCDC37C4B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661D43-C1A2-480F-B884-348E2E157CE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B8146E-ABD6-4A7E-A647-EC506F08B53D}"/>
              </a:ext>
            </a:extLst>
          </p:cNvPr>
          <p:cNvSpPr>
            <a:spLocks noGrp="1"/>
          </p:cNvSpPr>
          <p:nvPr>
            <p:ph type="dt" sz="half" idx="10"/>
          </p:nvPr>
        </p:nvSpPr>
        <p:spPr/>
        <p:txBody>
          <a:bodyPr/>
          <a:lstStyle/>
          <a:p>
            <a:fld id="{09FFC76B-D089-4ADE-B51B-C061A75999F5}" type="datetimeFigureOut">
              <a:rPr lang="en-US" smtClean="0"/>
              <a:t>7/23/2026</a:t>
            </a:fld>
            <a:endParaRPr lang="en-US"/>
          </a:p>
        </p:txBody>
      </p:sp>
      <p:sp>
        <p:nvSpPr>
          <p:cNvPr id="6" name="Footer Placeholder 5">
            <a:extLst>
              <a:ext uri="{FF2B5EF4-FFF2-40B4-BE49-F238E27FC236}">
                <a16:creationId xmlns:a16="http://schemas.microsoft.com/office/drawing/2014/main" id="{2AA85B5B-2BF9-4BEA-ABCB-63C426F46E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B15D6E-1A81-4C9C-8296-3F1BA16501D7}"/>
              </a:ext>
            </a:extLst>
          </p:cNvPr>
          <p:cNvSpPr>
            <a:spLocks noGrp="1"/>
          </p:cNvSpPr>
          <p:nvPr>
            <p:ph type="sldNum" sz="quarter" idx="12"/>
          </p:nvPr>
        </p:nvSpPr>
        <p:spPr/>
        <p:txBody>
          <a:bodyPr/>
          <a:lstStyle/>
          <a:p>
            <a:fld id="{E124EB2A-DE86-40FE-B807-CA51ED4EC35D}" type="slidenum">
              <a:rPr lang="en-US" smtClean="0"/>
              <a:t>‹#›</a:t>
            </a:fld>
            <a:endParaRPr lang="en-US"/>
          </a:p>
        </p:txBody>
      </p:sp>
    </p:spTree>
    <p:extLst>
      <p:ext uri="{BB962C8B-B14F-4D97-AF65-F5344CB8AC3E}">
        <p14:creationId xmlns:p14="http://schemas.microsoft.com/office/powerpoint/2010/main" val="2247695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C77FD-4A6F-4743-B05E-EE1E237426D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9AA486E-84B1-4CDA-8285-F43272A19E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8928AA-A854-4FA6-9751-D312B9D7EB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C624F29-5840-45DF-B4FE-9939A03D64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2EC2B3-40F9-45D9-926E-9F18C53EDB7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5C823E-F6E1-443C-9903-B4A37E5FB77B}"/>
              </a:ext>
            </a:extLst>
          </p:cNvPr>
          <p:cNvSpPr>
            <a:spLocks noGrp="1"/>
          </p:cNvSpPr>
          <p:nvPr>
            <p:ph type="dt" sz="half" idx="10"/>
          </p:nvPr>
        </p:nvSpPr>
        <p:spPr/>
        <p:txBody>
          <a:bodyPr/>
          <a:lstStyle/>
          <a:p>
            <a:fld id="{09FFC76B-D089-4ADE-B51B-C061A75999F5}" type="datetimeFigureOut">
              <a:rPr lang="en-US" smtClean="0"/>
              <a:t>7/23/2026</a:t>
            </a:fld>
            <a:endParaRPr lang="en-US"/>
          </a:p>
        </p:txBody>
      </p:sp>
      <p:sp>
        <p:nvSpPr>
          <p:cNvPr id="8" name="Footer Placeholder 7">
            <a:extLst>
              <a:ext uri="{FF2B5EF4-FFF2-40B4-BE49-F238E27FC236}">
                <a16:creationId xmlns:a16="http://schemas.microsoft.com/office/drawing/2014/main" id="{AA6850FC-0E31-4A3E-8677-135F4968612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4218EF3-86F5-4A07-A27A-CE224C0315AA}"/>
              </a:ext>
            </a:extLst>
          </p:cNvPr>
          <p:cNvSpPr>
            <a:spLocks noGrp="1"/>
          </p:cNvSpPr>
          <p:nvPr>
            <p:ph type="sldNum" sz="quarter" idx="12"/>
          </p:nvPr>
        </p:nvSpPr>
        <p:spPr/>
        <p:txBody>
          <a:bodyPr/>
          <a:lstStyle/>
          <a:p>
            <a:fld id="{E124EB2A-DE86-40FE-B807-CA51ED4EC35D}" type="slidenum">
              <a:rPr lang="en-US" smtClean="0"/>
              <a:t>‹#›</a:t>
            </a:fld>
            <a:endParaRPr lang="en-US"/>
          </a:p>
        </p:txBody>
      </p:sp>
    </p:spTree>
    <p:extLst>
      <p:ext uri="{BB962C8B-B14F-4D97-AF65-F5344CB8AC3E}">
        <p14:creationId xmlns:p14="http://schemas.microsoft.com/office/powerpoint/2010/main" val="4242225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7269E-A0F5-4E80-82AD-FC61B9E619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C4898C-3D2D-4253-8AB2-A230D161DDF6}"/>
              </a:ext>
            </a:extLst>
          </p:cNvPr>
          <p:cNvSpPr>
            <a:spLocks noGrp="1"/>
          </p:cNvSpPr>
          <p:nvPr>
            <p:ph type="dt" sz="half" idx="10"/>
          </p:nvPr>
        </p:nvSpPr>
        <p:spPr/>
        <p:txBody>
          <a:bodyPr/>
          <a:lstStyle/>
          <a:p>
            <a:fld id="{09FFC76B-D089-4ADE-B51B-C061A75999F5}" type="datetimeFigureOut">
              <a:rPr lang="en-US" smtClean="0"/>
              <a:t>7/23/2026</a:t>
            </a:fld>
            <a:endParaRPr lang="en-US"/>
          </a:p>
        </p:txBody>
      </p:sp>
      <p:sp>
        <p:nvSpPr>
          <p:cNvPr id="4" name="Footer Placeholder 3">
            <a:extLst>
              <a:ext uri="{FF2B5EF4-FFF2-40B4-BE49-F238E27FC236}">
                <a16:creationId xmlns:a16="http://schemas.microsoft.com/office/drawing/2014/main" id="{A51E53DE-AD47-4364-8CE5-FBE7FA8331D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C82AFEC-DC7D-4A2A-A123-A5227465C616}"/>
              </a:ext>
            </a:extLst>
          </p:cNvPr>
          <p:cNvSpPr>
            <a:spLocks noGrp="1"/>
          </p:cNvSpPr>
          <p:nvPr>
            <p:ph type="sldNum" sz="quarter" idx="12"/>
          </p:nvPr>
        </p:nvSpPr>
        <p:spPr/>
        <p:txBody>
          <a:bodyPr/>
          <a:lstStyle/>
          <a:p>
            <a:fld id="{E124EB2A-DE86-40FE-B807-CA51ED4EC35D}" type="slidenum">
              <a:rPr lang="en-US" smtClean="0"/>
              <a:t>‹#›</a:t>
            </a:fld>
            <a:endParaRPr lang="en-US"/>
          </a:p>
        </p:txBody>
      </p:sp>
    </p:spTree>
    <p:extLst>
      <p:ext uri="{BB962C8B-B14F-4D97-AF65-F5344CB8AC3E}">
        <p14:creationId xmlns:p14="http://schemas.microsoft.com/office/powerpoint/2010/main" val="1790898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45761A-64A2-412B-A123-07A135C508C1}"/>
              </a:ext>
            </a:extLst>
          </p:cNvPr>
          <p:cNvSpPr>
            <a:spLocks noGrp="1"/>
          </p:cNvSpPr>
          <p:nvPr>
            <p:ph type="dt" sz="half" idx="10"/>
          </p:nvPr>
        </p:nvSpPr>
        <p:spPr/>
        <p:txBody>
          <a:bodyPr/>
          <a:lstStyle/>
          <a:p>
            <a:fld id="{09FFC76B-D089-4ADE-B51B-C061A75999F5}" type="datetimeFigureOut">
              <a:rPr lang="en-US" smtClean="0"/>
              <a:t>7/23/2026</a:t>
            </a:fld>
            <a:endParaRPr lang="en-US"/>
          </a:p>
        </p:txBody>
      </p:sp>
      <p:sp>
        <p:nvSpPr>
          <p:cNvPr id="3" name="Footer Placeholder 2">
            <a:extLst>
              <a:ext uri="{FF2B5EF4-FFF2-40B4-BE49-F238E27FC236}">
                <a16:creationId xmlns:a16="http://schemas.microsoft.com/office/drawing/2014/main" id="{E0B7D013-1351-481E-9F45-5132182EE9B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6BF1C06-BED3-4342-BF92-7C39BBEA22F5}"/>
              </a:ext>
            </a:extLst>
          </p:cNvPr>
          <p:cNvSpPr>
            <a:spLocks noGrp="1"/>
          </p:cNvSpPr>
          <p:nvPr>
            <p:ph type="sldNum" sz="quarter" idx="12"/>
          </p:nvPr>
        </p:nvSpPr>
        <p:spPr/>
        <p:txBody>
          <a:bodyPr/>
          <a:lstStyle/>
          <a:p>
            <a:fld id="{E124EB2A-DE86-40FE-B807-CA51ED4EC35D}" type="slidenum">
              <a:rPr lang="en-US" smtClean="0"/>
              <a:t>‹#›</a:t>
            </a:fld>
            <a:endParaRPr lang="en-US"/>
          </a:p>
        </p:txBody>
      </p:sp>
    </p:spTree>
    <p:extLst>
      <p:ext uri="{BB962C8B-B14F-4D97-AF65-F5344CB8AC3E}">
        <p14:creationId xmlns:p14="http://schemas.microsoft.com/office/powerpoint/2010/main" val="34102159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18A50-A939-4952-A42B-5B9AB375BB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7A92149-A585-4864-8122-0A82344B95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8B07505-D68A-4D02-A318-D5B23EA0A4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3AA880-6062-4D27-BE6A-55761A37272D}"/>
              </a:ext>
            </a:extLst>
          </p:cNvPr>
          <p:cNvSpPr>
            <a:spLocks noGrp="1"/>
          </p:cNvSpPr>
          <p:nvPr>
            <p:ph type="dt" sz="half" idx="10"/>
          </p:nvPr>
        </p:nvSpPr>
        <p:spPr/>
        <p:txBody>
          <a:bodyPr/>
          <a:lstStyle/>
          <a:p>
            <a:fld id="{09FFC76B-D089-4ADE-B51B-C061A75999F5}" type="datetimeFigureOut">
              <a:rPr lang="en-US" smtClean="0"/>
              <a:t>7/23/2026</a:t>
            </a:fld>
            <a:endParaRPr lang="en-US"/>
          </a:p>
        </p:txBody>
      </p:sp>
      <p:sp>
        <p:nvSpPr>
          <p:cNvPr id="6" name="Footer Placeholder 5">
            <a:extLst>
              <a:ext uri="{FF2B5EF4-FFF2-40B4-BE49-F238E27FC236}">
                <a16:creationId xmlns:a16="http://schemas.microsoft.com/office/drawing/2014/main" id="{D2E4BEF5-1ED4-4F12-B778-1E5B86BE9A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BFEEB3-B2A2-4085-A156-38D820668988}"/>
              </a:ext>
            </a:extLst>
          </p:cNvPr>
          <p:cNvSpPr>
            <a:spLocks noGrp="1"/>
          </p:cNvSpPr>
          <p:nvPr>
            <p:ph type="sldNum" sz="quarter" idx="12"/>
          </p:nvPr>
        </p:nvSpPr>
        <p:spPr/>
        <p:txBody>
          <a:bodyPr/>
          <a:lstStyle/>
          <a:p>
            <a:fld id="{E124EB2A-DE86-40FE-B807-CA51ED4EC35D}" type="slidenum">
              <a:rPr lang="en-US" smtClean="0"/>
              <a:t>‹#›</a:t>
            </a:fld>
            <a:endParaRPr lang="en-US"/>
          </a:p>
        </p:txBody>
      </p:sp>
    </p:spTree>
    <p:extLst>
      <p:ext uri="{BB962C8B-B14F-4D97-AF65-F5344CB8AC3E}">
        <p14:creationId xmlns:p14="http://schemas.microsoft.com/office/powerpoint/2010/main" val="746963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E9A49-C766-46E2-B0F0-0678F9AC95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C17378F-D710-4242-A38B-ABA7A45958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A1DCF1-8EC3-40F4-99D3-7CD37D1178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6C7465-D1E6-4AFF-A81F-CD5C0C486BAD}"/>
              </a:ext>
            </a:extLst>
          </p:cNvPr>
          <p:cNvSpPr>
            <a:spLocks noGrp="1"/>
          </p:cNvSpPr>
          <p:nvPr>
            <p:ph type="dt" sz="half" idx="10"/>
          </p:nvPr>
        </p:nvSpPr>
        <p:spPr/>
        <p:txBody>
          <a:bodyPr/>
          <a:lstStyle/>
          <a:p>
            <a:fld id="{09FFC76B-D089-4ADE-B51B-C061A75999F5}" type="datetimeFigureOut">
              <a:rPr lang="en-US" smtClean="0"/>
              <a:t>7/23/2026</a:t>
            </a:fld>
            <a:endParaRPr lang="en-US"/>
          </a:p>
        </p:txBody>
      </p:sp>
      <p:sp>
        <p:nvSpPr>
          <p:cNvPr id="6" name="Footer Placeholder 5">
            <a:extLst>
              <a:ext uri="{FF2B5EF4-FFF2-40B4-BE49-F238E27FC236}">
                <a16:creationId xmlns:a16="http://schemas.microsoft.com/office/drawing/2014/main" id="{0A413F01-08CB-4BC9-8687-C52B61B33E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B43DD1-6F50-452A-AC0B-663B0514333D}"/>
              </a:ext>
            </a:extLst>
          </p:cNvPr>
          <p:cNvSpPr>
            <a:spLocks noGrp="1"/>
          </p:cNvSpPr>
          <p:nvPr>
            <p:ph type="sldNum" sz="quarter" idx="12"/>
          </p:nvPr>
        </p:nvSpPr>
        <p:spPr/>
        <p:txBody>
          <a:bodyPr/>
          <a:lstStyle/>
          <a:p>
            <a:fld id="{E124EB2A-DE86-40FE-B807-CA51ED4EC35D}" type="slidenum">
              <a:rPr lang="en-US" smtClean="0"/>
              <a:t>‹#›</a:t>
            </a:fld>
            <a:endParaRPr lang="en-US"/>
          </a:p>
        </p:txBody>
      </p:sp>
    </p:spTree>
    <p:extLst>
      <p:ext uri="{BB962C8B-B14F-4D97-AF65-F5344CB8AC3E}">
        <p14:creationId xmlns:p14="http://schemas.microsoft.com/office/powerpoint/2010/main" val="1622129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81E78-659E-4EE9-987A-4136EBA5D1C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F528113-D174-434D-B312-15D27A2F05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1EE9DC-641F-4E29-A5E7-2DF11380D240}"/>
              </a:ext>
            </a:extLst>
          </p:cNvPr>
          <p:cNvSpPr>
            <a:spLocks noGrp="1"/>
          </p:cNvSpPr>
          <p:nvPr>
            <p:ph type="dt" sz="half" idx="10"/>
          </p:nvPr>
        </p:nvSpPr>
        <p:spPr/>
        <p:txBody>
          <a:bodyPr/>
          <a:lstStyle/>
          <a:p>
            <a:fld id="{09FFC76B-D089-4ADE-B51B-C061A75999F5}" type="datetimeFigureOut">
              <a:rPr lang="en-US" smtClean="0"/>
              <a:t>7/23/2026</a:t>
            </a:fld>
            <a:endParaRPr lang="en-US"/>
          </a:p>
        </p:txBody>
      </p:sp>
      <p:sp>
        <p:nvSpPr>
          <p:cNvPr id="5" name="Footer Placeholder 4">
            <a:extLst>
              <a:ext uri="{FF2B5EF4-FFF2-40B4-BE49-F238E27FC236}">
                <a16:creationId xmlns:a16="http://schemas.microsoft.com/office/drawing/2014/main" id="{62A1B1E9-E161-4E95-BDA0-DFCBAE586D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130ACB-B3C3-421F-96D3-3FD0C6544D93}"/>
              </a:ext>
            </a:extLst>
          </p:cNvPr>
          <p:cNvSpPr>
            <a:spLocks noGrp="1"/>
          </p:cNvSpPr>
          <p:nvPr>
            <p:ph type="sldNum" sz="quarter" idx="12"/>
          </p:nvPr>
        </p:nvSpPr>
        <p:spPr/>
        <p:txBody>
          <a:bodyPr/>
          <a:lstStyle/>
          <a:p>
            <a:fld id="{E124EB2A-DE86-40FE-B807-CA51ED4EC35D}" type="slidenum">
              <a:rPr lang="en-US" smtClean="0"/>
              <a:t>‹#›</a:t>
            </a:fld>
            <a:endParaRPr lang="en-US"/>
          </a:p>
        </p:txBody>
      </p:sp>
    </p:spTree>
    <p:extLst>
      <p:ext uri="{BB962C8B-B14F-4D97-AF65-F5344CB8AC3E}">
        <p14:creationId xmlns:p14="http://schemas.microsoft.com/office/powerpoint/2010/main" val="3192712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16AB29-7736-45AA-A808-138D6F116C1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6F743AF-34B0-4EB6-B9EA-896A3AC1CDB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F216E1-31C9-4D0D-8810-DEBB8417DA09}"/>
              </a:ext>
            </a:extLst>
          </p:cNvPr>
          <p:cNvSpPr>
            <a:spLocks noGrp="1"/>
          </p:cNvSpPr>
          <p:nvPr>
            <p:ph type="dt" sz="half" idx="10"/>
          </p:nvPr>
        </p:nvSpPr>
        <p:spPr/>
        <p:txBody>
          <a:bodyPr/>
          <a:lstStyle/>
          <a:p>
            <a:fld id="{09FFC76B-D089-4ADE-B51B-C061A75999F5}" type="datetimeFigureOut">
              <a:rPr lang="en-US" smtClean="0"/>
              <a:t>7/23/2026</a:t>
            </a:fld>
            <a:endParaRPr lang="en-US"/>
          </a:p>
        </p:txBody>
      </p:sp>
      <p:sp>
        <p:nvSpPr>
          <p:cNvPr id="5" name="Footer Placeholder 4">
            <a:extLst>
              <a:ext uri="{FF2B5EF4-FFF2-40B4-BE49-F238E27FC236}">
                <a16:creationId xmlns:a16="http://schemas.microsoft.com/office/drawing/2014/main" id="{2AFAFE0B-EAAB-4322-9439-298A1C33E1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B69636-717F-470F-BCAD-E9722D34BB01}"/>
              </a:ext>
            </a:extLst>
          </p:cNvPr>
          <p:cNvSpPr>
            <a:spLocks noGrp="1"/>
          </p:cNvSpPr>
          <p:nvPr>
            <p:ph type="sldNum" sz="quarter" idx="12"/>
          </p:nvPr>
        </p:nvSpPr>
        <p:spPr/>
        <p:txBody>
          <a:bodyPr/>
          <a:lstStyle/>
          <a:p>
            <a:fld id="{E124EB2A-DE86-40FE-B807-CA51ED4EC35D}" type="slidenum">
              <a:rPr lang="en-US" smtClean="0"/>
              <a:t>‹#›</a:t>
            </a:fld>
            <a:endParaRPr lang="en-US"/>
          </a:p>
        </p:txBody>
      </p:sp>
    </p:spTree>
    <p:extLst>
      <p:ext uri="{BB962C8B-B14F-4D97-AF65-F5344CB8AC3E}">
        <p14:creationId xmlns:p14="http://schemas.microsoft.com/office/powerpoint/2010/main" val="2928044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C5A04C-105D-4272-BC3B-FD7469F2B8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D805422-579C-4EE4-B455-40985CD857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BE46C8-EC2B-4C37-BC82-5C43A0E2AD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FFC76B-D089-4ADE-B51B-C061A75999F5}" type="datetimeFigureOut">
              <a:rPr lang="en-US" smtClean="0"/>
              <a:t>7/23/2026</a:t>
            </a:fld>
            <a:endParaRPr lang="en-US"/>
          </a:p>
        </p:txBody>
      </p:sp>
      <p:sp>
        <p:nvSpPr>
          <p:cNvPr id="5" name="Footer Placeholder 4">
            <a:extLst>
              <a:ext uri="{FF2B5EF4-FFF2-40B4-BE49-F238E27FC236}">
                <a16:creationId xmlns:a16="http://schemas.microsoft.com/office/drawing/2014/main" id="{CFD58485-13A0-4512-B5BE-F1B4AAC6E6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B1526D3-B421-4DF1-8972-0A3AE5148E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24EB2A-DE86-40FE-B807-CA51ED4EC35D}" type="slidenum">
              <a:rPr lang="en-US" smtClean="0"/>
              <a:t>‹#›</a:t>
            </a:fld>
            <a:endParaRPr lang="en-US"/>
          </a:p>
        </p:txBody>
      </p:sp>
    </p:spTree>
    <p:extLst>
      <p:ext uri="{BB962C8B-B14F-4D97-AF65-F5344CB8AC3E}">
        <p14:creationId xmlns:p14="http://schemas.microsoft.com/office/powerpoint/2010/main" val="7957288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0BD0E-62EB-4900-839B-AE7DA872881B}"/>
              </a:ext>
            </a:extLst>
          </p:cNvPr>
          <p:cNvSpPr>
            <a:spLocks noGrp="1"/>
          </p:cNvSpPr>
          <p:nvPr>
            <p:ph type="title"/>
          </p:nvPr>
        </p:nvSpPr>
        <p:spPr/>
        <p:txBody>
          <a:bodyPr>
            <a:normAutofit/>
          </a:bodyPr>
          <a:lstStyle/>
          <a:p>
            <a:r>
              <a:rPr lang="en-US" sz="4000" dirty="0">
                <a:effectLst/>
                <a:latin typeface="Times New Roman" panose="02020603050405020304" pitchFamily="18" charset="0"/>
                <a:ea typeface="Calibri" panose="020F0502020204030204" pitchFamily="34" charset="0"/>
                <a:cs typeface="Times New Roman" panose="02020603050405020304" pitchFamily="18" charset="0"/>
              </a:rPr>
              <a:t>Cloud Computing &amp; Client-Server Architecture</a:t>
            </a:r>
            <a:br>
              <a:rPr lang="en-US" sz="4000" dirty="0">
                <a:effectLst/>
                <a:latin typeface="Times New Roman" panose="02020603050405020304" pitchFamily="18" charset="0"/>
                <a:ea typeface="Calibri" panose="020F0502020204030204" pitchFamily="34"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63E1F9B-658E-446A-9544-D0732B614397}"/>
              </a:ext>
            </a:extLst>
          </p:cNvPr>
          <p:cNvSpPr>
            <a:spLocks noGrp="1"/>
          </p:cNvSpPr>
          <p:nvPr>
            <p:ph idx="1"/>
          </p:nvPr>
        </p:nvSpPr>
        <p:spPr/>
        <p:txBody>
          <a:bodyPr>
            <a:normAutofit/>
          </a:bodyPr>
          <a:lstStyle/>
          <a:p>
            <a:r>
              <a:rPr lang="en-US" dirty="0">
                <a:solidFill>
                  <a:srgbClr val="FF0000"/>
                </a:solidFill>
              </a:rPr>
              <a:t>Cloud computing </a:t>
            </a:r>
            <a:r>
              <a:rPr lang="en-US" dirty="0"/>
              <a:t>is a model for enabling on-demand network access to a shared pool of configurable computing resources (e.g., networks, servers, storage) that can be rapidly provisioned.</a:t>
            </a:r>
          </a:p>
          <a:p>
            <a:endParaRPr lang="en-US" dirty="0"/>
          </a:p>
          <a:p>
            <a:r>
              <a:rPr lang="en-US" dirty="0"/>
              <a:t> It relies heavily on client-server architecture, where clients (your laptop, phone) request services or resources, and servers (powerful remote machines) fulfill those requests. In the cloud, these servers are often virtualized and located in massive data centers.</a:t>
            </a:r>
          </a:p>
        </p:txBody>
      </p:sp>
    </p:spTree>
    <p:extLst>
      <p:ext uri="{BB962C8B-B14F-4D97-AF65-F5344CB8AC3E}">
        <p14:creationId xmlns:p14="http://schemas.microsoft.com/office/powerpoint/2010/main" val="2138159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FB429-2FF2-49EB-8A32-96DBFC7482A7}"/>
              </a:ext>
            </a:extLst>
          </p:cNvPr>
          <p:cNvSpPr>
            <a:spLocks noGrp="1"/>
          </p:cNvSpPr>
          <p:nvPr>
            <p:ph type="title"/>
          </p:nvPr>
        </p:nvSpPr>
        <p:spPr/>
        <p:txBody>
          <a:bodyPr/>
          <a:lstStyle/>
          <a:p>
            <a:pPr algn="ctr"/>
            <a:r>
              <a:rPr lang="en-US" sz="4400" dirty="0">
                <a:effectLst/>
                <a:latin typeface="Times New Roman" panose="02020603050405020304" pitchFamily="18" charset="0"/>
                <a:ea typeface="Calibri" panose="020F0502020204030204" pitchFamily="34" charset="0"/>
                <a:cs typeface="Times New Roman" panose="02020603050405020304" pitchFamily="18" charset="0"/>
              </a:rPr>
              <a:t>Cloud Computing &amp; Client-Server Architecture</a:t>
            </a:r>
            <a:endParaRPr lang="en-US" dirty="0"/>
          </a:p>
        </p:txBody>
      </p:sp>
      <p:sp>
        <p:nvSpPr>
          <p:cNvPr id="3" name="Content Placeholder 2">
            <a:extLst>
              <a:ext uri="{FF2B5EF4-FFF2-40B4-BE49-F238E27FC236}">
                <a16:creationId xmlns:a16="http://schemas.microsoft.com/office/drawing/2014/main" id="{65A05B0B-C740-4367-A66F-E85007EC3BEF}"/>
              </a:ext>
            </a:extLst>
          </p:cNvPr>
          <p:cNvSpPr>
            <a:spLocks noGrp="1"/>
          </p:cNvSpPr>
          <p:nvPr>
            <p:ph idx="1"/>
          </p:nvPr>
        </p:nvSpPr>
        <p:spPr/>
        <p:txBody>
          <a:bodyPr>
            <a:normAutofit/>
          </a:bodyPr>
          <a:lstStyle/>
          <a:p>
            <a:pPr marL="0" indent="0">
              <a:buNone/>
            </a:pPr>
            <a:r>
              <a:rPr lang="en-US" dirty="0">
                <a:solidFill>
                  <a:srgbClr val="FF0000"/>
                </a:solidFill>
              </a:rPr>
              <a:t>Example: Google Drive</a:t>
            </a:r>
            <a:r>
              <a:rPr lang="en-US" dirty="0"/>
              <a:t>. Your browser (client) sends a request to save a file. Google's servers process this, store the file across multiple systems, and confirm the save. The user never interacts with the physical server, only the service.</a:t>
            </a:r>
            <a:endParaRPr lang="en-US" dirty="0">
              <a:solidFill>
                <a:srgbClr val="FF0000"/>
              </a:solidFill>
            </a:endParaRPr>
          </a:p>
          <a:p>
            <a:r>
              <a:rPr lang="en-US" dirty="0">
                <a:solidFill>
                  <a:srgbClr val="FF0000"/>
                </a:solidFill>
              </a:rPr>
              <a:t>Importance/Relevance: </a:t>
            </a:r>
            <a:r>
              <a:rPr lang="en-US" dirty="0"/>
              <a:t>This architecture is the foundation of modern internet services (email, streaming, social media). Understanding it is critical for designing scalable, cost-effective systems. It moves computing power from the user's device to the network, enabling access from anywhere.</a:t>
            </a:r>
          </a:p>
        </p:txBody>
      </p:sp>
    </p:spTree>
    <p:extLst>
      <p:ext uri="{BB962C8B-B14F-4D97-AF65-F5344CB8AC3E}">
        <p14:creationId xmlns:p14="http://schemas.microsoft.com/office/powerpoint/2010/main" val="3245481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C3B0B-65D7-49D1-84B1-BD68E7EBCA40}"/>
              </a:ext>
            </a:extLst>
          </p:cNvPr>
          <p:cNvSpPr>
            <a:spLocks noGrp="1"/>
          </p:cNvSpPr>
          <p:nvPr>
            <p:ph type="title"/>
          </p:nvPr>
        </p:nvSpPr>
        <p:spPr/>
        <p:txBody>
          <a:bodyPr/>
          <a:lstStyle/>
          <a:p>
            <a:pPr algn="ctr"/>
            <a:r>
              <a:rPr lang="en-US" sz="4400" dirty="0">
                <a:effectLst/>
                <a:latin typeface="Times New Roman" panose="02020603050405020304" pitchFamily="18" charset="0"/>
                <a:ea typeface="Calibri" panose="020F0502020204030204" pitchFamily="34" charset="0"/>
                <a:cs typeface="Times New Roman" panose="02020603050405020304" pitchFamily="18" charset="0"/>
              </a:rPr>
              <a:t>Cloud Computing &amp; Client-Server Architecture</a:t>
            </a:r>
            <a:endParaRPr lang="en-US" dirty="0"/>
          </a:p>
        </p:txBody>
      </p:sp>
      <p:pic>
        <p:nvPicPr>
          <p:cNvPr id="5" name="Content Placeholder 4">
            <a:extLst>
              <a:ext uri="{FF2B5EF4-FFF2-40B4-BE49-F238E27FC236}">
                <a16:creationId xmlns:a16="http://schemas.microsoft.com/office/drawing/2014/main" id="{44A8BD61-1C2E-4AB0-874C-9E2B883647E9}"/>
              </a:ext>
            </a:extLst>
          </p:cNvPr>
          <p:cNvPicPr>
            <a:picLocks noGrp="1" noChangeAspect="1"/>
          </p:cNvPicPr>
          <p:nvPr>
            <p:ph idx="1"/>
          </p:nvPr>
        </p:nvPicPr>
        <p:blipFill>
          <a:blip r:embed="rId2"/>
          <a:stretch>
            <a:fillRect/>
          </a:stretch>
        </p:blipFill>
        <p:spPr>
          <a:xfrm>
            <a:off x="308113" y="1490870"/>
            <a:ext cx="11648661" cy="5277678"/>
          </a:xfrm>
        </p:spPr>
      </p:pic>
    </p:spTree>
    <p:extLst>
      <p:ext uri="{BB962C8B-B14F-4D97-AF65-F5344CB8AC3E}">
        <p14:creationId xmlns:p14="http://schemas.microsoft.com/office/powerpoint/2010/main" val="462979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F613E-2DAB-46C1-AA13-7AEC53697DC6}"/>
              </a:ext>
            </a:extLst>
          </p:cNvPr>
          <p:cNvSpPr>
            <a:spLocks noGrp="1"/>
          </p:cNvSpPr>
          <p:nvPr>
            <p:ph type="title"/>
          </p:nvPr>
        </p:nvSpPr>
        <p:spPr/>
        <p:txBody>
          <a:bodyPr>
            <a:noAutofit/>
          </a:bodyPr>
          <a:lstStyle/>
          <a:p>
            <a:pPr algn="ct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Concurrency, Race Conditions, and the Lost Update Problem</a:t>
            </a:r>
            <a:br>
              <a:rPr lang="en-US" sz="4000" dirty="0">
                <a:effectLst/>
                <a:latin typeface="Times New Roman" panose="02020603050405020304" pitchFamily="18" charset="0"/>
                <a:ea typeface="Calibri" panose="020F0502020204030204" pitchFamily="34"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7369FD9-0618-4F04-A9AB-050253362BF8}"/>
              </a:ext>
            </a:extLst>
          </p:cNvPr>
          <p:cNvSpPr>
            <a:spLocks noGrp="1"/>
          </p:cNvSpPr>
          <p:nvPr>
            <p:ph idx="1"/>
          </p:nvPr>
        </p:nvSpPr>
        <p:spPr/>
        <p:txBody>
          <a:bodyPr/>
          <a:lstStyle/>
          <a:p>
            <a:r>
              <a:rPr lang="en-US" dirty="0">
                <a:solidFill>
                  <a:srgbClr val="FF0000"/>
                </a:solidFill>
              </a:rPr>
              <a:t>Concurrency</a:t>
            </a:r>
            <a:r>
              <a:rPr lang="en-US" dirty="0"/>
              <a:t> in distributed systems means multiple operations are happening simultaneously. This creates problems like Race Conditions, where the system's final state depends on the unpredictable timing of events. </a:t>
            </a:r>
          </a:p>
          <a:p>
            <a:r>
              <a:rPr lang="en-US" dirty="0"/>
              <a:t>A classic example is the Lost Update Problem: two users read the same data, both modify it locally, and then both write back. The second write overwrites the first, causing the first user's update to be permanently lost.</a:t>
            </a:r>
          </a:p>
        </p:txBody>
      </p:sp>
    </p:spTree>
    <p:extLst>
      <p:ext uri="{BB962C8B-B14F-4D97-AF65-F5344CB8AC3E}">
        <p14:creationId xmlns:p14="http://schemas.microsoft.com/office/powerpoint/2010/main" val="4182099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5FDB4-2779-47BE-AF73-24BCA9D78032}"/>
              </a:ext>
            </a:extLst>
          </p:cNvPr>
          <p:cNvSpPr>
            <a:spLocks noGrp="1"/>
          </p:cNvSpPr>
          <p:nvPr>
            <p:ph type="title"/>
          </p:nvPr>
        </p:nvSpPr>
        <p:spPr/>
        <p:txBody>
          <a:bodyPr/>
          <a:lstStyle/>
          <a:p>
            <a:pPr algn="ctr"/>
            <a:r>
              <a:rPr lang="en-US" sz="4400" dirty="0">
                <a:effectLst/>
                <a:latin typeface="Times New Roman" panose="02020603050405020304" pitchFamily="18" charset="0"/>
                <a:ea typeface="Calibri" panose="020F0502020204030204" pitchFamily="34" charset="0"/>
                <a:cs typeface="Times New Roman" panose="02020603050405020304" pitchFamily="18" charset="0"/>
              </a:rPr>
              <a:t>Concurrency, Race Conditions, and the Lost Update Problem</a:t>
            </a:r>
            <a:endParaRPr lang="en-US" dirty="0"/>
          </a:p>
        </p:txBody>
      </p:sp>
      <p:sp>
        <p:nvSpPr>
          <p:cNvPr id="3" name="Content Placeholder 2">
            <a:extLst>
              <a:ext uri="{FF2B5EF4-FFF2-40B4-BE49-F238E27FC236}">
                <a16:creationId xmlns:a16="http://schemas.microsoft.com/office/drawing/2014/main" id="{386543C1-DD0F-4A44-A377-286B1D6F4B6F}"/>
              </a:ext>
            </a:extLst>
          </p:cNvPr>
          <p:cNvSpPr>
            <a:spLocks noGrp="1"/>
          </p:cNvSpPr>
          <p:nvPr>
            <p:ph idx="1"/>
          </p:nvPr>
        </p:nvSpPr>
        <p:spPr/>
        <p:txBody>
          <a:bodyPr/>
          <a:lstStyle/>
          <a:p>
            <a:r>
              <a:rPr lang="en-US" dirty="0">
                <a:solidFill>
                  <a:srgbClr val="FF0000"/>
                </a:solidFill>
              </a:rPr>
              <a:t>Example: Airline seat booking.</a:t>
            </a:r>
            <a:r>
              <a:rPr lang="en-US" dirty="0"/>
              <a:t> User A and User B both see seat 22F as available. User A books it (writes "Booked"). An instant later, User B also writes "Booked," overwriting A's record. User A's booking is lost, leading to double-booking.</a:t>
            </a:r>
          </a:p>
          <a:p>
            <a:endParaRPr lang="en-US" dirty="0"/>
          </a:p>
          <a:p>
            <a:r>
              <a:rPr lang="en-US" dirty="0">
                <a:solidFill>
                  <a:srgbClr val="FF0000"/>
                </a:solidFill>
              </a:rPr>
              <a:t>Importance/Relevance: </a:t>
            </a:r>
            <a:r>
              <a:rPr lang="en-US" dirty="0"/>
              <a:t>These issues are the root cause of data corruption in multi-user applications (banking, e-commerce, booking systems). Any system with concurrent access must handle these to maintain data integrity and consistency.</a:t>
            </a:r>
          </a:p>
          <a:p>
            <a:endParaRPr lang="en-US" dirty="0"/>
          </a:p>
          <a:p>
            <a:endParaRPr lang="en-US" dirty="0"/>
          </a:p>
        </p:txBody>
      </p:sp>
    </p:spTree>
    <p:extLst>
      <p:ext uri="{BB962C8B-B14F-4D97-AF65-F5344CB8AC3E}">
        <p14:creationId xmlns:p14="http://schemas.microsoft.com/office/powerpoint/2010/main" val="29843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DB449-974F-4B99-857B-91B870D13826}"/>
              </a:ext>
            </a:extLst>
          </p:cNvPr>
          <p:cNvSpPr>
            <a:spLocks noGrp="1"/>
          </p:cNvSpPr>
          <p:nvPr>
            <p:ph type="title"/>
          </p:nvPr>
        </p:nvSpPr>
        <p:spPr/>
        <p:txBody>
          <a:bodyPr>
            <a:noAutofit/>
          </a:bodyPr>
          <a:lstStyle/>
          <a:p>
            <a:pPr algn="ct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Concurrency Control Techniques, Security &amp; Communication Challenges</a:t>
            </a:r>
            <a:br>
              <a:rPr lang="en-US" sz="4000" dirty="0">
                <a:effectLst/>
                <a:latin typeface="Times New Roman" panose="02020603050405020304" pitchFamily="18" charset="0"/>
                <a:ea typeface="Calibri" panose="020F0502020204030204" pitchFamily="34"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9713EE8-34FA-44C2-9C89-689C19978023}"/>
              </a:ext>
            </a:extLst>
          </p:cNvPr>
          <p:cNvSpPr>
            <a:spLocks noGrp="1"/>
          </p:cNvSpPr>
          <p:nvPr>
            <p:ph idx="1"/>
          </p:nvPr>
        </p:nvSpPr>
        <p:spPr/>
        <p:txBody>
          <a:bodyPr/>
          <a:lstStyle/>
          <a:p>
            <a:r>
              <a:rPr lang="en-US" dirty="0"/>
              <a:t>To solve race conditions, we use Concurrency Control Techniques like locking (pessimistic) or versioning (optimistic). Security challenges include protecting data in transit and at rest. </a:t>
            </a:r>
          </a:p>
          <a:p>
            <a:r>
              <a:rPr lang="en-US" dirty="0"/>
              <a:t>Communication challenges involve managing unreliable networks, latency, and message ordering between distributed components. These are fundamental to ensuring a system is both correct and secure.</a:t>
            </a:r>
          </a:p>
          <a:p>
            <a:endParaRPr lang="en-US" dirty="0"/>
          </a:p>
          <a:p>
            <a:endParaRPr lang="en-US" dirty="0"/>
          </a:p>
        </p:txBody>
      </p:sp>
    </p:spTree>
    <p:extLst>
      <p:ext uri="{BB962C8B-B14F-4D97-AF65-F5344CB8AC3E}">
        <p14:creationId xmlns:p14="http://schemas.microsoft.com/office/powerpoint/2010/main" val="514276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B046C-705E-4CFB-8EAA-AF8A54315A3F}"/>
              </a:ext>
            </a:extLst>
          </p:cNvPr>
          <p:cNvSpPr>
            <a:spLocks noGrp="1"/>
          </p:cNvSpPr>
          <p:nvPr>
            <p:ph type="title"/>
          </p:nvPr>
        </p:nvSpPr>
        <p:spPr/>
        <p:txBody>
          <a:bodyPr>
            <a:noAutofit/>
          </a:bodyPr>
          <a:lstStyle/>
          <a:p>
            <a:pPr algn="ct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Concurrency Control Techniques, Security &amp; Communication Challenges</a:t>
            </a:r>
            <a:br>
              <a:rPr lang="en-US" sz="4000" dirty="0">
                <a:effectLst/>
                <a:latin typeface="Times New Roman" panose="02020603050405020304" pitchFamily="18" charset="0"/>
                <a:ea typeface="Calibri" panose="020F0502020204030204" pitchFamily="34"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44F60B4-3EC4-4A66-A0F9-A11E3FB85CE0}"/>
              </a:ext>
            </a:extLst>
          </p:cNvPr>
          <p:cNvSpPr>
            <a:spLocks noGrp="1"/>
          </p:cNvSpPr>
          <p:nvPr>
            <p:ph idx="1"/>
          </p:nvPr>
        </p:nvSpPr>
        <p:spPr/>
        <p:txBody>
          <a:bodyPr/>
          <a:lstStyle/>
          <a:p>
            <a:r>
              <a:rPr lang="en-US" dirty="0">
                <a:solidFill>
                  <a:srgbClr val="FF0000"/>
                </a:solidFill>
              </a:rPr>
              <a:t>Example: Wikipedia editing. </a:t>
            </a:r>
            <a:r>
              <a:rPr lang="en-US" dirty="0"/>
              <a:t>Wikipedia uses "page locking." If you are editing an article, a lock might briefly prevent others from editing the same version. This prevents the lost update problem. Security is ensured via HTTPS, encrypting your edits as they travel to the server.</a:t>
            </a:r>
          </a:p>
          <a:p>
            <a:endParaRPr lang="en-US" dirty="0"/>
          </a:p>
          <a:p>
            <a:r>
              <a:rPr lang="en-US" dirty="0">
                <a:solidFill>
                  <a:srgbClr val="FF0000"/>
                </a:solidFill>
              </a:rPr>
              <a:t>Importance/Relevance: </a:t>
            </a:r>
            <a:r>
              <a:rPr lang="en-US" dirty="0"/>
              <a:t>Without concurrency control, data becomes inconsistent. Without security, data is vulnerable. Mastering these is essential for building reliable, trustworthy distributed applications.</a:t>
            </a:r>
          </a:p>
          <a:p>
            <a:endParaRPr lang="en-US" dirty="0"/>
          </a:p>
          <a:p>
            <a:endParaRPr lang="en-US" dirty="0"/>
          </a:p>
        </p:txBody>
      </p:sp>
    </p:spTree>
    <p:extLst>
      <p:ext uri="{BB962C8B-B14F-4D97-AF65-F5344CB8AC3E}">
        <p14:creationId xmlns:p14="http://schemas.microsoft.com/office/powerpoint/2010/main" val="2966882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8E610-4E3A-4A8D-98CE-A844C329544A}"/>
              </a:ext>
            </a:extLst>
          </p:cNvPr>
          <p:cNvSpPr>
            <a:spLocks noGrp="1"/>
          </p:cNvSpPr>
          <p:nvPr>
            <p:ph type="title"/>
          </p:nvPr>
        </p:nvSpPr>
        <p:spPr/>
        <p:txBody>
          <a:bodyPr>
            <a:normAutofit/>
          </a:bodyPr>
          <a:lstStyle/>
          <a:p>
            <a:pPr algn="ctr"/>
            <a:r>
              <a:rPr lang="en-US" sz="4000" dirty="0">
                <a:effectLst/>
                <a:latin typeface="Times New Roman" panose="02020603050405020304" pitchFamily="18" charset="0"/>
                <a:ea typeface="Calibri" panose="020F0502020204030204" pitchFamily="34" charset="0"/>
              </a:rPr>
              <a:t>Authentication, Encryption, and Fault Tolerance</a:t>
            </a:r>
            <a:endParaRPr lang="en-US" sz="4000" dirty="0"/>
          </a:p>
        </p:txBody>
      </p:sp>
      <p:sp>
        <p:nvSpPr>
          <p:cNvPr id="3" name="Content Placeholder 2">
            <a:extLst>
              <a:ext uri="{FF2B5EF4-FFF2-40B4-BE49-F238E27FC236}">
                <a16:creationId xmlns:a16="http://schemas.microsoft.com/office/drawing/2014/main" id="{AC329844-C6B7-4D29-8589-4F7DCA07F4AE}"/>
              </a:ext>
            </a:extLst>
          </p:cNvPr>
          <p:cNvSpPr>
            <a:spLocks noGrp="1"/>
          </p:cNvSpPr>
          <p:nvPr>
            <p:ph idx="1"/>
          </p:nvPr>
        </p:nvSpPr>
        <p:spPr/>
        <p:txBody>
          <a:bodyPr/>
          <a:lstStyle/>
          <a:p>
            <a:r>
              <a:rPr lang="en-US" dirty="0"/>
              <a:t>Authentication verifies identity (e.g., username/password, biometrics), while Encryption (like AES) scrambles data so only authorized parties can read it.</a:t>
            </a:r>
          </a:p>
          <a:p>
            <a:r>
              <a:rPr lang="en-US" dirty="0"/>
              <a:t> Fault Tolerance is the ability of a system to continue operating, possibly at a reduced level, when some components fail. This is achieved through redundancy (backup servers, power supplies).</a:t>
            </a:r>
          </a:p>
          <a:p>
            <a:endParaRPr lang="en-US" dirty="0"/>
          </a:p>
          <a:p>
            <a:endParaRPr lang="en-US" dirty="0"/>
          </a:p>
        </p:txBody>
      </p:sp>
    </p:spTree>
    <p:extLst>
      <p:ext uri="{BB962C8B-B14F-4D97-AF65-F5344CB8AC3E}">
        <p14:creationId xmlns:p14="http://schemas.microsoft.com/office/powerpoint/2010/main" val="3658745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AAFE6-4F52-4B5B-B815-63162D4F7699}"/>
              </a:ext>
            </a:extLst>
          </p:cNvPr>
          <p:cNvSpPr>
            <a:spLocks noGrp="1"/>
          </p:cNvSpPr>
          <p:nvPr>
            <p:ph type="title"/>
          </p:nvPr>
        </p:nvSpPr>
        <p:spPr/>
        <p:txBody>
          <a:bodyPr/>
          <a:lstStyle/>
          <a:p>
            <a:pPr algn="ctr"/>
            <a:r>
              <a:rPr lang="en-US" sz="4400" dirty="0">
                <a:effectLst/>
                <a:latin typeface="Times New Roman" panose="02020603050405020304" pitchFamily="18" charset="0"/>
                <a:ea typeface="Calibri" panose="020F0502020204030204" pitchFamily="34" charset="0"/>
              </a:rPr>
              <a:t>Authentication, Encryption, and Fault Tolerance</a:t>
            </a:r>
            <a:endParaRPr lang="en-US" dirty="0"/>
          </a:p>
        </p:txBody>
      </p:sp>
      <p:sp>
        <p:nvSpPr>
          <p:cNvPr id="3" name="Content Placeholder 2">
            <a:extLst>
              <a:ext uri="{FF2B5EF4-FFF2-40B4-BE49-F238E27FC236}">
                <a16:creationId xmlns:a16="http://schemas.microsoft.com/office/drawing/2014/main" id="{ABC8B0AD-6F68-4F36-8E17-79B8F0B420EC}"/>
              </a:ext>
            </a:extLst>
          </p:cNvPr>
          <p:cNvSpPr>
            <a:spLocks noGrp="1"/>
          </p:cNvSpPr>
          <p:nvPr>
            <p:ph idx="1"/>
          </p:nvPr>
        </p:nvSpPr>
        <p:spPr/>
        <p:txBody>
          <a:bodyPr/>
          <a:lstStyle/>
          <a:p>
            <a:r>
              <a:rPr lang="en-US" dirty="0">
                <a:solidFill>
                  <a:srgbClr val="FF0000"/>
                </a:solidFill>
              </a:rPr>
              <a:t>Example: Online banking. </a:t>
            </a:r>
            <a:r>
              <a:rPr lang="en-US" dirty="0"/>
              <a:t>You authenticate with a password and 2FA. Your transaction data is encrypted end-to-end (HTTPS). If the bank's primary database server fails, a backup server in a different data center takes over immediately (fault tolerance), preventing service disruption.</a:t>
            </a:r>
          </a:p>
          <a:p>
            <a:r>
              <a:rPr lang="en-US" dirty="0">
                <a:solidFill>
                  <a:srgbClr val="FF0000"/>
                </a:solidFill>
              </a:rPr>
              <a:t>Importance/Relevance: </a:t>
            </a:r>
            <a:r>
              <a:rPr lang="en-US" dirty="0"/>
              <a:t>These are the pillars of trust and reliability. Without them, users cannot trust their data is private, their identity protected, or that the service will be available when needed.</a:t>
            </a:r>
          </a:p>
          <a:p>
            <a:endParaRPr lang="en-US" dirty="0"/>
          </a:p>
          <a:p>
            <a:endParaRPr lang="en-US" dirty="0"/>
          </a:p>
          <a:p>
            <a:endParaRPr lang="en-US" dirty="0"/>
          </a:p>
        </p:txBody>
      </p:sp>
    </p:spTree>
    <p:extLst>
      <p:ext uri="{BB962C8B-B14F-4D97-AF65-F5344CB8AC3E}">
        <p14:creationId xmlns:p14="http://schemas.microsoft.com/office/powerpoint/2010/main" val="2750951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ACB62-7878-4140-817B-75D665CD364E}"/>
              </a:ext>
            </a:extLst>
          </p:cNvPr>
          <p:cNvSpPr>
            <a:spLocks noGrp="1"/>
          </p:cNvSpPr>
          <p:nvPr>
            <p:ph type="title"/>
          </p:nvPr>
        </p:nvSpPr>
        <p:spPr/>
        <p:txBody>
          <a:bodyPr>
            <a:noAutofit/>
          </a:bodyPr>
          <a:lstStyle/>
          <a:p>
            <a:pPr algn="ct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Deadlock in Distributed Systems &amp; Necessary Conditions</a:t>
            </a:r>
            <a:br>
              <a:rPr lang="en-US" sz="4000" dirty="0">
                <a:effectLst/>
                <a:latin typeface="Times New Roman" panose="02020603050405020304" pitchFamily="18" charset="0"/>
                <a:ea typeface="Calibri" panose="020F0502020204030204" pitchFamily="34"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4DB06E3-E442-49F3-86AD-13B81A740CE2}"/>
              </a:ext>
            </a:extLst>
          </p:cNvPr>
          <p:cNvSpPr>
            <a:spLocks noGrp="1"/>
          </p:cNvSpPr>
          <p:nvPr>
            <p:ph idx="1"/>
          </p:nvPr>
        </p:nvSpPr>
        <p:spPr/>
        <p:txBody>
          <a:bodyPr/>
          <a:lstStyle/>
          <a:p>
            <a:r>
              <a:rPr lang="en-US" dirty="0">
                <a:solidFill>
                  <a:srgbClr val="FF0000"/>
                </a:solidFill>
              </a:rPr>
              <a:t>A Deadlock </a:t>
            </a:r>
            <a:r>
              <a:rPr lang="en-US" dirty="0"/>
              <a:t>is a state where two or more processes are each waiting for the other to release a resource, causing all to be stuck forever. In distributed systems, this is harder to detect. The four Necessary Conditions are (Coffman conditions):</a:t>
            </a:r>
          </a:p>
          <a:p>
            <a:pPr marL="0" indent="0">
              <a:buNone/>
            </a:pPr>
            <a:r>
              <a:rPr lang="en-US" dirty="0"/>
              <a:t>1.  Mutual Exclusion: Only one process can use a resource at a time.</a:t>
            </a:r>
          </a:p>
          <a:p>
            <a:pPr marL="0" indent="0">
              <a:buNone/>
            </a:pPr>
            <a:r>
              <a:rPr lang="en-US" dirty="0"/>
              <a:t>2.  Hold and Wait: A process holding a resource is waiting for another.</a:t>
            </a:r>
          </a:p>
          <a:p>
            <a:pPr marL="514350" indent="-514350">
              <a:buAutoNum type="arabicPeriod" startAt="3"/>
            </a:pPr>
            <a:r>
              <a:rPr lang="en-US" dirty="0"/>
              <a:t>No Preemption: A resource cannot be forcibly taken away.</a:t>
            </a:r>
          </a:p>
          <a:p>
            <a:pPr marL="514350" indent="-514350">
              <a:buAutoNum type="arabicPeriod" startAt="3"/>
            </a:pPr>
            <a:r>
              <a:rPr lang="en-US" dirty="0"/>
              <a:t>Circular Wait: A cycle of processes each waiting for a resource held by the next.</a:t>
            </a:r>
          </a:p>
          <a:p>
            <a:endParaRPr lang="en-US" dirty="0"/>
          </a:p>
        </p:txBody>
      </p:sp>
    </p:spTree>
    <p:extLst>
      <p:ext uri="{BB962C8B-B14F-4D97-AF65-F5344CB8AC3E}">
        <p14:creationId xmlns:p14="http://schemas.microsoft.com/office/powerpoint/2010/main" val="1479181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B542A-51FD-43BA-9FAC-5BE7B64331F9}"/>
              </a:ext>
            </a:extLst>
          </p:cNvPr>
          <p:cNvSpPr>
            <a:spLocks noGrp="1"/>
          </p:cNvSpPr>
          <p:nvPr>
            <p:ph type="title"/>
          </p:nvPr>
        </p:nvSpPr>
        <p:spPr/>
        <p:txBody>
          <a:bodyPr/>
          <a:lstStyle/>
          <a:p>
            <a:pPr algn="ctr"/>
            <a:r>
              <a:rPr lang="en-US" sz="4400" dirty="0">
                <a:effectLst/>
                <a:latin typeface="Times New Roman" panose="02020603050405020304" pitchFamily="18" charset="0"/>
                <a:ea typeface="Calibri" panose="020F0502020204030204" pitchFamily="34" charset="0"/>
                <a:cs typeface="Times New Roman" panose="02020603050405020304" pitchFamily="18" charset="0"/>
              </a:rPr>
              <a:t>Deadlock in Distributed Systems &amp; Necessary Conditions</a:t>
            </a:r>
            <a:endParaRPr lang="en-US" dirty="0"/>
          </a:p>
        </p:txBody>
      </p:sp>
      <p:sp>
        <p:nvSpPr>
          <p:cNvPr id="3" name="Content Placeholder 2">
            <a:extLst>
              <a:ext uri="{FF2B5EF4-FFF2-40B4-BE49-F238E27FC236}">
                <a16:creationId xmlns:a16="http://schemas.microsoft.com/office/drawing/2014/main" id="{1B10420D-9E22-4B76-A5E4-C466495722E3}"/>
              </a:ext>
            </a:extLst>
          </p:cNvPr>
          <p:cNvSpPr>
            <a:spLocks noGrp="1"/>
          </p:cNvSpPr>
          <p:nvPr>
            <p:ph idx="1"/>
          </p:nvPr>
        </p:nvSpPr>
        <p:spPr/>
        <p:txBody>
          <a:bodyPr/>
          <a:lstStyle/>
          <a:p>
            <a:r>
              <a:rPr lang="en-US" dirty="0">
                <a:solidFill>
                  <a:srgbClr val="FF0000"/>
                </a:solidFill>
              </a:rPr>
              <a:t>Example: Two users</a:t>
            </a:r>
            <a:r>
              <a:rPr lang="en-US" dirty="0"/>
              <a:t>, A and B. User A has File 1 and needs File 2. User B has File 2 and needs File 1. Neither will give up their file (no preemption). Both hold and wait. This creates a circular wait, leading to a deadlock. The system hangs.</a:t>
            </a:r>
          </a:p>
          <a:p>
            <a:endParaRPr lang="en-US" dirty="0"/>
          </a:p>
          <a:p>
            <a:r>
              <a:rPr lang="en-US" dirty="0">
                <a:solidFill>
                  <a:srgbClr val="FF0000"/>
                </a:solidFill>
              </a:rPr>
              <a:t>Importance/Relevance: </a:t>
            </a:r>
            <a:r>
              <a:rPr lang="en-US" dirty="0"/>
              <a:t>Deadlocks can bring entire distributed systems (e.g., a database cluster) to a halt. Understanding the four conditions is the first step to preventing or managing this failure mode.</a:t>
            </a:r>
          </a:p>
          <a:p>
            <a:endParaRPr lang="en-US" dirty="0"/>
          </a:p>
        </p:txBody>
      </p:sp>
    </p:spTree>
    <p:extLst>
      <p:ext uri="{BB962C8B-B14F-4D97-AF65-F5344CB8AC3E}">
        <p14:creationId xmlns:p14="http://schemas.microsoft.com/office/powerpoint/2010/main" val="36064523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9540D-F2C5-4880-BF9C-6A1A38C58898}"/>
              </a:ext>
            </a:extLst>
          </p:cNvPr>
          <p:cNvSpPr>
            <a:spLocks noGrp="1"/>
          </p:cNvSpPr>
          <p:nvPr>
            <p:ph type="title"/>
          </p:nvPr>
        </p:nvSpPr>
        <p:spPr/>
        <p:txBody>
          <a:bodyPr>
            <a:noAutofit/>
          </a:bodyPr>
          <a:lstStyle/>
          <a:p>
            <a:pPr algn="ct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Deadlock Prevention, Avoidance, and Detection &amp; Recovery</a:t>
            </a:r>
            <a:br>
              <a:rPr lang="en-US" sz="4000" dirty="0">
                <a:effectLst/>
                <a:latin typeface="Times New Roman" panose="02020603050405020304" pitchFamily="18" charset="0"/>
                <a:ea typeface="Calibri" panose="020F0502020204030204" pitchFamily="34"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0917D8-A544-4B2A-8E91-7730195486A1}"/>
              </a:ext>
            </a:extLst>
          </p:cNvPr>
          <p:cNvSpPr>
            <a:spLocks noGrp="1"/>
          </p:cNvSpPr>
          <p:nvPr>
            <p:ph idx="1"/>
          </p:nvPr>
        </p:nvSpPr>
        <p:spPr/>
        <p:txBody>
          <a:bodyPr/>
          <a:lstStyle/>
          <a:p>
            <a:r>
              <a:rPr lang="en-US" dirty="0">
                <a:solidFill>
                  <a:srgbClr val="FF0000"/>
                </a:solidFill>
              </a:rPr>
              <a:t>Prevention</a:t>
            </a:r>
            <a:r>
              <a:rPr lang="en-US" dirty="0"/>
              <a:t> breaks one of the four necessary conditions (e.g., force processes to request all resources at once, preventing hold-and-wait). Avoidance (like the Banker's Algorithm) requires advance information about future resource needs and only grants requests that leave the system in a safe state. </a:t>
            </a:r>
          </a:p>
          <a:p>
            <a:r>
              <a:rPr lang="en-US" dirty="0">
                <a:solidFill>
                  <a:srgbClr val="FF0000"/>
                </a:solidFill>
              </a:rPr>
              <a:t>Detection &amp; Recovery </a:t>
            </a:r>
            <a:r>
              <a:rPr lang="en-US" dirty="0"/>
              <a:t>involves the system checking for deadlocks (e.g., a cycle in a resource graph) and then forcibly terminating a process (killing it) or preempting its resources.</a:t>
            </a:r>
          </a:p>
          <a:p>
            <a:endParaRPr lang="en-US" dirty="0"/>
          </a:p>
          <a:p>
            <a:endParaRPr lang="en-US" dirty="0"/>
          </a:p>
        </p:txBody>
      </p:sp>
    </p:spTree>
    <p:extLst>
      <p:ext uri="{BB962C8B-B14F-4D97-AF65-F5344CB8AC3E}">
        <p14:creationId xmlns:p14="http://schemas.microsoft.com/office/powerpoint/2010/main" val="2069738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4D00B-CC57-4191-9E3C-4554E59B98C0}"/>
              </a:ext>
            </a:extLst>
          </p:cNvPr>
          <p:cNvSpPr>
            <a:spLocks noGrp="1"/>
          </p:cNvSpPr>
          <p:nvPr>
            <p:ph type="title"/>
          </p:nvPr>
        </p:nvSpPr>
        <p:spPr/>
        <p:txBody>
          <a:bodyPr>
            <a:noAutofit/>
          </a:bodyPr>
          <a:lstStyle/>
          <a:p>
            <a:pPr algn="ct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Deadlock Prevention, Avoidance, and Detection &amp; Recovery</a:t>
            </a:r>
            <a:br>
              <a:rPr lang="en-US" sz="4000" dirty="0">
                <a:effectLst/>
                <a:latin typeface="Times New Roman" panose="02020603050405020304" pitchFamily="18" charset="0"/>
                <a:ea typeface="Calibri" panose="020F0502020204030204" pitchFamily="34"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29AC65E-A1FB-4CBB-BBC7-425F08A80A26}"/>
              </a:ext>
            </a:extLst>
          </p:cNvPr>
          <p:cNvSpPr>
            <a:spLocks noGrp="1"/>
          </p:cNvSpPr>
          <p:nvPr>
            <p:ph idx="1"/>
          </p:nvPr>
        </p:nvSpPr>
        <p:spPr/>
        <p:txBody>
          <a:bodyPr/>
          <a:lstStyle/>
          <a:p>
            <a:r>
              <a:rPr lang="en-US" dirty="0">
                <a:solidFill>
                  <a:srgbClr val="FF0000"/>
                </a:solidFill>
              </a:rPr>
              <a:t>Example: A database management system (DBMS) </a:t>
            </a:r>
            <a:r>
              <a:rPr lang="en-US" dirty="0"/>
              <a:t>usually uses Detection &amp; Recovery. It periodically checks if transactions are stuck in a cycle. If a deadlock is found, it chooses one transaction (the "victim") and rolls it back (undoes its work), releasing its locks so others can proceed.</a:t>
            </a:r>
          </a:p>
          <a:p>
            <a:endParaRPr lang="en-US" dirty="0"/>
          </a:p>
          <a:p>
            <a:r>
              <a:rPr lang="en-US" dirty="0">
                <a:solidFill>
                  <a:srgbClr val="FF0000"/>
                </a:solidFill>
              </a:rPr>
              <a:t>Importance/Relevance: </a:t>
            </a:r>
            <a:r>
              <a:rPr lang="en-US" dirty="0"/>
              <a:t>Each strategy has trade-offs. Prevention wastes resources, Avoidance is complex, and Recovery causes some work to be lost. The choice depends on system criticality and cost of interruption.</a:t>
            </a:r>
          </a:p>
          <a:p>
            <a:endParaRPr lang="en-US" dirty="0"/>
          </a:p>
          <a:p>
            <a:endParaRPr lang="en-US" dirty="0"/>
          </a:p>
          <a:p>
            <a:endParaRPr lang="en-US" dirty="0"/>
          </a:p>
        </p:txBody>
      </p:sp>
    </p:spTree>
    <p:extLst>
      <p:ext uri="{BB962C8B-B14F-4D97-AF65-F5344CB8AC3E}">
        <p14:creationId xmlns:p14="http://schemas.microsoft.com/office/powerpoint/2010/main" val="1874935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D0D0F-F528-4E98-9463-0E4ACF4AE741}"/>
              </a:ext>
            </a:extLst>
          </p:cNvPr>
          <p:cNvSpPr>
            <a:spLocks noGrp="1"/>
          </p:cNvSpPr>
          <p:nvPr>
            <p:ph type="title"/>
          </p:nvPr>
        </p:nvSpPr>
        <p:spPr/>
        <p:txBody>
          <a:bodyPr>
            <a:noAutofit/>
          </a:bodyPr>
          <a:lstStyle/>
          <a:p>
            <a:pPr algn="ct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CPU Scheduling - Round Robin &amp; Shortest Job First</a:t>
            </a:r>
            <a:br>
              <a:rPr lang="en-US" sz="4000" dirty="0">
                <a:effectLst/>
                <a:latin typeface="Times New Roman" panose="02020603050405020304" pitchFamily="18" charset="0"/>
                <a:ea typeface="Calibri" panose="020F0502020204030204" pitchFamily="34"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0F492B0-72C1-41D2-880E-03E2B1F0C76C}"/>
              </a:ext>
            </a:extLst>
          </p:cNvPr>
          <p:cNvSpPr>
            <a:spLocks noGrp="1"/>
          </p:cNvSpPr>
          <p:nvPr>
            <p:ph idx="1"/>
          </p:nvPr>
        </p:nvSpPr>
        <p:spPr/>
        <p:txBody>
          <a:bodyPr/>
          <a:lstStyle/>
          <a:p>
            <a:r>
              <a:rPr lang="en-US" dirty="0">
                <a:solidFill>
                  <a:srgbClr val="FF0000"/>
                </a:solidFill>
              </a:rPr>
              <a:t>CPU Scheduling </a:t>
            </a:r>
            <a:r>
              <a:rPr lang="en-US" dirty="0"/>
              <a:t>decides which process gets the CPU next. Round Robin (RR) gives each process a fixed time slice (quantum) in a circular order. It's fair and good for time-sharing.</a:t>
            </a:r>
          </a:p>
          <a:p>
            <a:r>
              <a:rPr lang="en-US" dirty="0"/>
              <a:t> Shortest Job First (SJF) selects the process with the smallest total execution time. It minimizes average wait time but can starve long processes (starvation).</a:t>
            </a:r>
          </a:p>
          <a:p>
            <a:endParaRPr lang="en-US" dirty="0"/>
          </a:p>
          <a:p>
            <a:endParaRPr lang="en-US" dirty="0"/>
          </a:p>
        </p:txBody>
      </p:sp>
    </p:spTree>
    <p:extLst>
      <p:ext uri="{BB962C8B-B14F-4D97-AF65-F5344CB8AC3E}">
        <p14:creationId xmlns:p14="http://schemas.microsoft.com/office/powerpoint/2010/main" val="39916577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2A9BF-2B69-472E-87A2-BDD6F24D7988}"/>
              </a:ext>
            </a:extLst>
          </p:cNvPr>
          <p:cNvSpPr>
            <a:spLocks noGrp="1"/>
          </p:cNvSpPr>
          <p:nvPr>
            <p:ph type="title"/>
          </p:nvPr>
        </p:nvSpPr>
        <p:spPr/>
        <p:txBody>
          <a:bodyPr/>
          <a:lstStyle/>
          <a:p>
            <a:pPr algn="ctr"/>
            <a:r>
              <a:rPr lang="en-US" sz="4400" dirty="0">
                <a:effectLst/>
                <a:latin typeface="Times New Roman" panose="02020603050405020304" pitchFamily="18" charset="0"/>
                <a:ea typeface="Calibri" panose="020F0502020204030204" pitchFamily="34" charset="0"/>
                <a:cs typeface="Times New Roman" panose="02020603050405020304" pitchFamily="18" charset="0"/>
              </a:rPr>
              <a:t>CPU Scheduling - Round Robin &amp; Shortest Job First</a:t>
            </a:r>
            <a:endParaRPr lang="en-US" dirty="0"/>
          </a:p>
        </p:txBody>
      </p:sp>
      <p:sp>
        <p:nvSpPr>
          <p:cNvPr id="3" name="Content Placeholder 2">
            <a:extLst>
              <a:ext uri="{FF2B5EF4-FFF2-40B4-BE49-F238E27FC236}">
                <a16:creationId xmlns:a16="http://schemas.microsoft.com/office/drawing/2014/main" id="{E9888115-09C3-4197-B7BE-E241D5BDFD15}"/>
              </a:ext>
            </a:extLst>
          </p:cNvPr>
          <p:cNvSpPr>
            <a:spLocks noGrp="1"/>
          </p:cNvSpPr>
          <p:nvPr>
            <p:ph idx="1"/>
          </p:nvPr>
        </p:nvSpPr>
        <p:spPr/>
        <p:txBody>
          <a:bodyPr>
            <a:normAutofit fontScale="92500" lnSpcReduction="20000"/>
          </a:bodyPr>
          <a:lstStyle/>
          <a:p>
            <a:r>
              <a:rPr lang="en-US" sz="3000" dirty="0">
                <a:solidFill>
                  <a:srgbClr val="FF0000"/>
                </a:solidFill>
              </a:rPr>
              <a:t>Example:</a:t>
            </a:r>
          </a:p>
          <a:p>
            <a:r>
              <a:rPr lang="en-US" sz="3000" dirty="0"/>
              <a:t>RR: A web server handling 100 user requests. Each gets 50ms of CPU before moving to the back of the queue. Every user feels the system is responsive, even though many are being served.</a:t>
            </a:r>
          </a:p>
          <a:p>
            <a:r>
              <a:rPr lang="en-US" sz="3000" dirty="0"/>
              <a:t>SJF: In a batch processing system, a 1-second job will always be processed before a 10-second job. This makes the average completion time low.</a:t>
            </a:r>
          </a:p>
          <a:p>
            <a:endParaRPr lang="en-US" sz="3000" dirty="0"/>
          </a:p>
          <a:p>
            <a:r>
              <a:rPr lang="en-US" sz="3000" dirty="0">
                <a:solidFill>
                  <a:srgbClr val="FF0000"/>
                </a:solidFill>
              </a:rPr>
              <a:t>Importance/Relevance: </a:t>
            </a:r>
            <a:r>
              <a:rPr lang="en-US" sz="3000" dirty="0"/>
              <a:t>The choice impacts user experience. RR is preferred for interactive systems (fast response), while SJF is optimal for maximizing throughput in non-interactive, predictable workloads.</a:t>
            </a:r>
          </a:p>
          <a:p>
            <a:endParaRPr lang="en-US" dirty="0"/>
          </a:p>
        </p:txBody>
      </p:sp>
    </p:spTree>
    <p:extLst>
      <p:ext uri="{BB962C8B-B14F-4D97-AF65-F5344CB8AC3E}">
        <p14:creationId xmlns:p14="http://schemas.microsoft.com/office/powerpoint/2010/main" val="3182567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7631C-BEC5-4AE7-8EA5-2C794629BB58}"/>
              </a:ext>
            </a:extLst>
          </p:cNvPr>
          <p:cNvSpPr>
            <a:spLocks noGrp="1"/>
          </p:cNvSpPr>
          <p:nvPr>
            <p:ph type="title"/>
          </p:nvPr>
        </p:nvSpPr>
        <p:spPr/>
        <p:txBody>
          <a:bodyPr>
            <a:normAutofit/>
          </a:bodyPr>
          <a:lstStyle/>
          <a:p>
            <a:pPr algn="ct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Practical Application</a:t>
            </a:r>
            <a:br>
              <a:rPr lang="en-US" sz="4000" dirty="0">
                <a:effectLst/>
                <a:latin typeface="Times New Roman" panose="02020603050405020304" pitchFamily="18" charset="0"/>
                <a:ea typeface="Calibri" panose="020F0502020204030204" pitchFamily="34"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8B7EB29-57F2-40E7-B346-F2FEF23B6EFD}"/>
              </a:ext>
            </a:extLst>
          </p:cNvPr>
          <p:cNvSpPr>
            <a:spLocks noGrp="1"/>
          </p:cNvSpPr>
          <p:nvPr>
            <p:ph idx="1"/>
          </p:nvPr>
        </p:nvSpPr>
        <p:spPr/>
        <p:txBody>
          <a:bodyPr/>
          <a:lstStyle/>
          <a:p>
            <a:r>
              <a:rPr lang="en-US" dirty="0"/>
              <a:t>Distributed systems rely on client-server architecture, but concurrency introduces race conditions and deadlocks. We manage these with locking, scheduling (RR for responsiveness, SJF for throughput), and fault tolerance through redundancy.</a:t>
            </a:r>
          </a:p>
          <a:p>
            <a:r>
              <a:rPr lang="en-US" dirty="0"/>
              <a:t> Security (authentication, encryption) protects the system from threats. The choice of techniques depends on the trade-offs between performance, fairness, and reliability.</a:t>
            </a:r>
          </a:p>
          <a:p>
            <a:endParaRPr lang="en-US" dirty="0"/>
          </a:p>
          <a:p>
            <a:endParaRPr lang="en-US" dirty="0"/>
          </a:p>
        </p:txBody>
      </p:sp>
    </p:spTree>
    <p:extLst>
      <p:ext uri="{BB962C8B-B14F-4D97-AF65-F5344CB8AC3E}">
        <p14:creationId xmlns:p14="http://schemas.microsoft.com/office/powerpoint/2010/main" val="3963265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211F1-45D4-42DA-B412-CC1B7CF4124C}"/>
              </a:ext>
            </a:extLst>
          </p:cNvPr>
          <p:cNvSpPr>
            <a:spLocks noGrp="1"/>
          </p:cNvSpPr>
          <p:nvPr>
            <p:ph type="title"/>
          </p:nvPr>
        </p:nvSpPr>
        <p:spPr/>
        <p:txBody>
          <a:bodyPr/>
          <a:lstStyle/>
          <a:p>
            <a:pPr algn="ctr"/>
            <a:r>
              <a:rPr lang="en-US" sz="4400" dirty="0">
                <a:effectLst/>
                <a:latin typeface="Times New Roman" panose="02020603050405020304" pitchFamily="18" charset="0"/>
                <a:ea typeface="Calibri" panose="020F0502020204030204" pitchFamily="34" charset="0"/>
                <a:cs typeface="Times New Roman" panose="02020603050405020304" pitchFamily="18" charset="0"/>
              </a:rPr>
              <a:t>Practical Application</a:t>
            </a:r>
            <a:endParaRPr lang="en-US" dirty="0"/>
          </a:p>
        </p:txBody>
      </p:sp>
      <p:sp>
        <p:nvSpPr>
          <p:cNvPr id="3" name="Content Placeholder 2">
            <a:extLst>
              <a:ext uri="{FF2B5EF4-FFF2-40B4-BE49-F238E27FC236}">
                <a16:creationId xmlns:a16="http://schemas.microsoft.com/office/drawing/2014/main" id="{0F887FE0-EEE8-4E39-A0F8-80299A8855A5}"/>
              </a:ext>
            </a:extLst>
          </p:cNvPr>
          <p:cNvSpPr>
            <a:spLocks noGrp="1"/>
          </p:cNvSpPr>
          <p:nvPr>
            <p:ph idx="1"/>
          </p:nvPr>
        </p:nvSpPr>
        <p:spPr/>
        <p:txBody>
          <a:bodyPr/>
          <a:lstStyle/>
          <a:p>
            <a:r>
              <a:rPr lang="en-US" dirty="0">
                <a:solidFill>
                  <a:srgbClr val="FF0000"/>
                </a:solidFill>
              </a:rPr>
              <a:t>Application: </a:t>
            </a:r>
            <a:r>
              <a:rPr lang="en-US" dirty="0"/>
              <a:t>Consider a modern e-commerce platform (Amazon). It uses cloud computing (AWS), client-server (browser to server), concurrency control (locking on inventory), RR-like scheduling for web requests, SJF-like priority for backend batch processing, fault tolerance (replicated databases), and encryption (HTTPS).</a:t>
            </a:r>
          </a:p>
          <a:p>
            <a:r>
              <a:rPr lang="en-US" dirty="0"/>
              <a:t> A failure in any one of these areas (e.g., a deadlock in inventory) would crash the user experience. Understanding these concepts allows engineers to design, debug, and scale such complex systems effectively.</a:t>
            </a:r>
          </a:p>
          <a:p>
            <a:endParaRPr lang="en-US" dirty="0"/>
          </a:p>
          <a:p>
            <a:endParaRPr lang="en-US" dirty="0"/>
          </a:p>
        </p:txBody>
      </p:sp>
    </p:spTree>
    <p:extLst>
      <p:ext uri="{BB962C8B-B14F-4D97-AF65-F5344CB8AC3E}">
        <p14:creationId xmlns:p14="http://schemas.microsoft.com/office/powerpoint/2010/main" val="37832880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C37E7-A204-4067-A203-B60C71548E92}"/>
              </a:ext>
            </a:extLst>
          </p:cNvPr>
          <p:cNvSpPr>
            <a:spLocks noGrp="1"/>
          </p:cNvSpPr>
          <p:nvPr>
            <p:ph type="title"/>
          </p:nvPr>
        </p:nvSpPr>
        <p:spPr/>
        <p:txBody>
          <a:bodyPr/>
          <a:lstStyle/>
          <a:p>
            <a:pPr algn="ctr"/>
            <a:r>
              <a:rPr lang="en-US" dirty="0"/>
              <a:t>QUICK QUIZ</a:t>
            </a:r>
          </a:p>
        </p:txBody>
      </p:sp>
      <p:sp>
        <p:nvSpPr>
          <p:cNvPr id="3" name="Content Placeholder 2">
            <a:extLst>
              <a:ext uri="{FF2B5EF4-FFF2-40B4-BE49-F238E27FC236}">
                <a16:creationId xmlns:a16="http://schemas.microsoft.com/office/drawing/2014/main" id="{84379B4C-211B-4092-92F8-7990739B1302}"/>
              </a:ext>
            </a:extLst>
          </p:cNvPr>
          <p:cNvSpPr>
            <a:spLocks noGrp="1"/>
          </p:cNvSpPr>
          <p:nvPr>
            <p:ph idx="1"/>
          </p:nvPr>
        </p:nvSpPr>
        <p:spPr/>
        <p:txBody>
          <a:bodyPr>
            <a:noAutofit/>
          </a:bodyPr>
          <a:lstStyle/>
          <a:p>
            <a:pPr marL="0" marR="0" indent="0">
              <a:lnSpc>
                <a:spcPct val="107000"/>
              </a:lnSpc>
              <a:spcBef>
                <a:spcPts val="0"/>
              </a:spcBef>
              <a:spcAft>
                <a:spcPts val="8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1. A deadlock can exist even if only one of the four necessary conditions is present.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2. Round Robin scheduling guarantees no process will starve.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3. The Lost Update problem can be solved by using encryption.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4. In a deadlock detection and recovery system, the "victim" process is always the one that caused the deadlock.</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5. Authentication and encryption are the same thing.</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6. Shortest Job First (SJF) minimizes the average waiting time for a given set of jobs.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7. Cloud computing eliminates the need for client-server architecture.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8. A system can be fault-tolerant but not secure.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9. Deadlock prevention ensures that a deadlock can never occur, but it may waste resources.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10. In a race condition, the final outcome is deterministic and predictable.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p>
        </p:txBody>
      </p:sp>
    </p:spTree>
    <p:extLst>
      <p:ext uri="{BB962C8B-B14F-4D97-AF65-F5344CB8AC3E}">
        <p14:creationId xmlns:p14="http://schemas.microsoft.com/office/powerpoint/2010/main" val="6293413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BC5DF-BA1A-4777-9108-0FE780A159DF}"/>
              </a:ext>
            </a:extLst>
          </p:cNvPr>
          <p:cNvSpPr>
            <a:spLocks noGrp="1"/>
          </p:cNvSpPr>
          <p:nvPr>
            <p:ph type="title"/>
          </p:nvPr>
        </p:nvSpPr>
        <p:spPr/>
        <p:txBody>
          <a:bodyPr/>
          <a:lstStyle/>
          <a:p>
            <a:pPr algn="ctr"/>
            <a:r>
              <a:rPr lang="en-US" dirty="0"/>
              <a:t>Possible Solution</a:t>
            </a:r>
          </a:p>
        </p:txBody>
      </p:sp>
      <p:sp>
        <p:nvSpPr>
          <p:cNvPr id="3" name="Content Placeholder 2">
            <a:extLst>
              <a:ext uri="{FF2B5EF4-FFF2-40B4-BE49-F238E27FC236}">
                <a16:creationId xmlns:a16="http://schemas.microsoft.com/office/drawing/2014/main" id="{BAF8E3F2-451A-4CB9-971B-F4FFCFBE0376}"/>
              </a:ext>
            </a:extLst>
          </p:cNvPr>
          <p:cNvSpPr>
            <a:spLocks noGrp="1"/>
          </p:cNvSpPr>
          <p:nvPr>
            <p:ph idx="1"/>
          </p:nvPr>
        </p:nvSpPr>
        <p:spPr/>
        <p:txBody>
          <a:bodyPr>
            <a:normAutofit fontScale="92500" lnSpcReduction="20000"/>
          </a:bodyPr>
          <a:lstStyle/>
          <a:p>
            <a:pPr marL="514350" indent="-514350">
              <a:buAutoNum type="arabicPeriod"/>
            </a:pPr>
            <a:r>
              <a:rPr lang="en-US" dirty="0"/>
              <a:t>False</a:t>
            </a:r>
          </a:p>
          <a:p>
            <a:pPr marL="514350" indent="-514350">
              <a:buAutoNum type="arabicPeriod"/>
            </a:pPr>
            <a:r>
              <a:rPr lang="en-US" dirty="0"/>
              <a:t>True</a:t>
            </a:r>
          </a:p>
          <a:p>
            <a:pPr marL="514350" indent="-514350">
              <a:buAutoNum type="arabicPeriod"/>
            </a:pPr>
            <a:r>
              <a:rPr lang="en-US" dirty="0"/>
              <a:t>False</a:t>
            </a:r>
          </a:p>
          <a:p>
            <a:pPr marL="514350" indent="-514350">
              <a:buAutoNum type="arabicPeriod"/>
            </a:pPr>
            <a:r>
              <a:rPr lang="en-US" dirty="0"/>
              <a:t>False</a:t>
            </a:r>
          </a:p>
          <a:p>
            <a:pPr marL="514350" indent="-514350">
              <a:buAutoNum type="arabicPeriod"/>
            </a:pPr>
            <a:r>
              <a:rPr lang="en-US" dirty="0"/>
              <a:t>False</a:t>
            </a:r>
          </a:p>
          <a:p>
            <a:pPr marL="514350" indent="-514350">
              <a:buAutoNum type="arabicPeriod"/>
            </a:pPr>
            <a:r>
              <a:rPr lang="en-US" dirty="0"/>
              <a:t>True</a:t>
            </a:r>
          </a:p>
          <a:p>
            <a:pPr marL="514350" indent="-514350">
              <a:buAutoNum type="arabicPeriod"/>
            </a:pPr>
            <a:r>
              <a:rPr lang="en-US" dirty="0"/>
              <a:t>False</a:t>
            </a:r>
          </a:p>
          <a:p>
            <a:pPr marL="514350" indent="-514350">
              <a:buAutoNum type="arabicPeriod"/>
            </a:pPr>
            <a:r>
              <a:rPr lang="en-US" dirty="0"/>
              <a:t>True</a:t>
            </a:r>
          </a:p>
          <a:p>
            <a:pPr marL="514350" indent="-514350">
              <a:buAutoNum type="arabicPeriod"/>
            </a:pPr>
            <a:r>
              <a:rPr lang="en-US" dirty="0"/>
              <a:t>True</a:t>
            </a:r>
          </a:p>
          <a:p>
            <a:pPr marL="514350" indent="-514350">
              <a:buAutoNum type="arabicPeriod"/>
            </a:pPr>
            <a:r>
              <a:rPr lang="en-US" dirty="0"/>
              <a:t>False</a:t>
            </a:r>
          </a:p>
        </p:txBody>
      </p:sp>
    </p:spTree>
    <p:extLst>
      <p:ext uri="{BB962C8B-B14F-4D97-AF65-F5344CB8AC3E}">
        <p14:creationId xmlns:p14="http://schemas.microsoft.com/office/powerpoint/2010/main" val="3644621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827</TotalTime>
  <Words>1656</Words>
  <Application>Microsoft Office PowerPoint</Application>
  <PresentationFormat>Widescreen</PresentationFormat>
  <Paragraphs>85</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Times New Roman</vt:lpstr>
      <vt:lpstr>Office Theme</vt:lpstr>
      <vt:lpstr>Cloud Computing &amp; Client-Server Architecture </vt:lpstr>
      <vt:lpstr>Cloud Computing &amp; Client-Server Architecture</vt:lpstr>
      <vt:lpstr>Cloud Computing &amp; Client-Server Architecture</vt:lpstr>
      <vt:lpstr>Concurrency, Race Conditions, and the Lost Update Problem </vt:lpstr>
      <vt:lpstr>Concurrency, Race Conditions, and the Lost Update Problem</vt:lpstr>
      <vt:lpstr>Concurrency Control Techniques, Security &amp; Communication Challenges </vt:lpstr>
      <vt:lpstr>Concurrency Control Techniques, Security &amp; Communication Challenges </vt:lpstr>
      <vt:lpstr>Authentication, Encryption, and Fault Tolerance</vt:lpstr>
      <vt:lpstr>Authentication, Encryption, and Fault Tolerance</vt:lpstr>
      <vt:lpstr>Deadlock in Distributed Systems &amp; Necessary Conditions </vt:lpstr>
      <vt:lpstr>Deadlock in Distributed Systems &amp; Necessary Conditions</vt:lpstr>
      <vt:lpstr>Deadlock Prevention, Avoidance, and Detection &amp; Recovery </vt:lpstr>
      <vt:lpstr>Deadlock Prevention, Avoidance, and Detection &amp; Recovery </vt:lpstr>
      <vt:lpstr>CPU Scheduling - Round Robin &amp; Shortest Job First </vt:lpstr>
      <vt:lpstr>CPU Scheduling - Round Robin &amp; Shortest Job First</vt:lpstr>
      <vt:lpstr>Practical Application </vt:lpstr>
      <vt:lpstr>Practical Application</vt:lpstr>
      <vt:lpstr>QUICK QUIZ</vt:lpstr>
      <vt:lpstr>Possible Solution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Computing &amp; Client-Server Architecture</dc:title>
  <dc:creator>Adjei Gyabaa</dc:creator>
  <cp:lastModifiedBy>Adjei Gyabaa</cp:lastModifiedBy>
  <cp:revision>4</cp:revision>
  <dcterms:created xsi:type="dcterms:W3CDTF">2026-07-03T21:20:24Z</dcterms:created>
  <dcterms:modified xsi:type="dcterms:W3CDTF">2026-07-23T14:08:35Z</dcterms:modified>
</cp:coreProperties>
</file>